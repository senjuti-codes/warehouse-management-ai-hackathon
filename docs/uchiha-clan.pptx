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3" r:id="rId7"/>
    <p:sldId id="264" r:id="rId8"/>
    <p:sldId id="260" r:id="rId9"/>
    <p:sldId id="261" r:id="rId10"/>
    <p:sldId id="265" r:id="rId11"/>
    <p:sldId id="272" r:id="rId12"/>
    <p:sldId id="273" r:id="rId13"/>
    <p:sldId id="274" r:id="rId14"/>
    <p:sldId id="275" r:id="rId15"/>
    <p:sldId id="276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38"/>
    <p:restoredTop sz="94633"/>
  </p:normalViewPr>
  <p:slideViewPr>
    <p:cSldViewPr snapToGrid="0">
      <p:cViewPr varScale="1">
        <p:scale>
          <a:sx n="148" d="100"/>
          <a:sy n="148" d="100"/>
        </p:scale>
        <p:origin x="20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33:01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FAAF7-F0A2-E8B0-6723-153E9E9D7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8F5FE-E694-6868-61B6-45640DD17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1E323-933F-1987-B984-E0522A268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E7121-EC18-45C9-B9EA-53A9E4EB80F3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E11D-FDC6-02BF-7924-9EFEC1FFE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42769-EA2B-2459-7FE0-01BB2A77D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3152-C571-436C-8D5E-95FF83DBD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361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AABB6-6618-A15B-1BA2-1903F4752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01E60-BA57-1C17-115F-363152534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C7C7F-8386-558D-C799-B448D4B51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E7121-EC18-45C9-B9EA-53A9E4EB80F3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3A58D-B670-C4DA-3898-B288A6282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F6D84-5A58-BCA3-D658-CA27D50B6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3152-C571-436C-8D5E-95FF83DBD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84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30C11-7765-6437-4535-BFDB806FA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6BDCA-695B-BBF4-4771-A289014E8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20EA1-81BF-A531-1B46-05545225E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E7121-EC18-45C9-B9EA-53A9E4EB80F3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6A978-0169-4AD5-D163-20064FEB0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409D2-0FAB-4698-8881-3B603F02D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3152-C571-436C-8D5E-95FF83DBD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23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BD348-E116-F700-46AF-D641FF7A5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6FD1D-DBBC-EA7F-1766-90C5C6F202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D0CB21-649A-20E2-F9E1-25ED3A3B5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E0A6E-18D4-50A3-8B99-6EB89AC6C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E7121-EC18-45C9-B9EA-53A9E4EB80F3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CDBBE7-9991-D2B7-5528-EF23003CB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8E6BB-D0A9-079A-485C-ACAEF6DF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3152-C571-436C-8D5E-95FF83DBD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622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D899B-EACD-DB7B-7DD6-C6E6E720E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7591A-4AC3-11DA-B5B4-482D9CC4C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BD8D02-D666-0439-B9A5-4912B91FB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298C95-184F-A9EC-021D-9AE344B16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86B073-75CF-AAB5-DADB-2B1881F28B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47C472-BCF9-CBC7-836C-35A4D0A33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E7121-EC18-45C9-B9EA-53A9E4EB80F3}" type="datetimeFigureOut">
              <a:rPr lang="en-US" smtClean="0"/>
              <a:t>7/31/26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7135B5-4953-2B20-DC88-492AE2C91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334E75-D902-C48B-D288-554650A34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3152-C571-436C-8D5E-95FF83DBD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67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FE4A9-D760-64DE-9D95-D4ADDD0D5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B7A420-1D8C-2023-A301-ED946316A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E7121-EC18-45C9-B9EA-53A9E4EB80F3}" type="datetimeFigureOut">
              <a:rPr lang="en-US" smtClean="0"/>
              <a:t>7/31/26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F9694D-ECB5-3A2D-5579-22AB234F2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410D6-51B0-F5C1-1DB0-AA9D0B5EF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3152-C571-436C-8D5E-95FF83DBD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54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7B1805-6933-AADD-6A84-5CB6EC86A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E7121-EC18-45C9-B9EA-53A9E4EB80F3}" type="datetimeFigureOut">
              <a:rPr lang="en-US" smtClean="0"/>
              <a:t>7/31/26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390592-079B-0DAB-9684-BDE2725BC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0D486-7F8D-28DA-6F7E-FF2193D2E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3152-C571-436C-8D5E-95FF83DBD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9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D9F0F-6A8A-0751-3410-0FC383EEC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F7442-56EE-4C5C-FDA8-F79088E06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BF5D8C-7C1B-61C7-1620-8DF5C7BF2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AAC07-D2BC-EA90-D173-C4EDA03E6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E7121-EC18-45C9-B9EA-53A9E4EB80F3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4F65C-7D3B-490B-8760-90B2F79D3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4FBB2-F1B4-BEEC-0BC4-AE5FBD05B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3152-C571-436C-8D5E-95FF83DBD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248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48F5C-C677-05A3-5195-1E7997B25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381186-B0A1-2A52-E1E0-E23BE82441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6E1349-7B6C-9E84-E787-D87741544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65EB29-01A4-05F3-BE67-8B48C5A4C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E7121-EC18-45C9-B9EA-53A9E4EB80F3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3C8B9-F0F7-B5E5-7877-2B966BFCC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063A8-6A94-FD92-250D-59F029382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3152-C571-436C-8D5E-95FF83DBD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728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EDBC4-D14C-4B61-8AB2-E1E09F75A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DF23E7-E9E4-EE70-E45F-23725EF80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A987C-113E-1199-5700-1EB7800D7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E7121-EC18-45C9-B9EA-53A9E4EB80F3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F976-4A65-67CB-E6FE-D33A127E1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423BF-7ECC-D2A8-4B9D-6800D8B12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3152-C571-436C-8D5E-95FF83DBD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41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864374-5465-0452-C404-F5B9AE6C3B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EB251F-871B-2406-228F-803FC9B13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E90AF-B88E-3D2E-A1C0-1917CC1AE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E7121-EC18-45C9-B9EA-53A9E4EB80F3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93FB5-6E0A-06F2-FD05-49A58E616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CAA35-9F5B-2177-0015-834BE1349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3152-C571-436C-8D5E-95FF83DBD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37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4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051CF4-6105-79F2-F72A-319259EB2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833A5-1044-24A4-61C4-1C1B37B32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F8708-7813-1B99-6906-6940A77FE3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CE7121-EC18-45C9-B9EA-53A9E4EB80F3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401E0-2B6E-240A-93E8-8F9AD68FC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6E97C-7DB8-E3AA-4E91-FEF0083C6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4F3152-C571-436C-8D5E-95FF83DBDE1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87D100-6220-C1FF-7C66-725F03DA926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53181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  <p:pic>
        <p:nvPicPr>
          <p:cNvPr id="20" name="Mobilothon Logo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000000" y="270000"/>
            <a:ext cx="2850000" cy="332160"/>
          </a:xfrm>
          <a:prstGeom prst="rect">
            <a:avLst/>
          </a:prstGeom>
        </p:spPr>
      </p:pic>
      <p:pic>
        <p:nvPicPr>
          <p:cNvPr id="21" name="VW Group Logo"/>
          <p:cNvPicPr>
            <a:picLocks noChangeAspect="1"/>
          </p:cNvPicPr>
          <p:nvPr userDrawn="1"/>
        </p:nvPicPr>
        <p:blipFill>
          <a:blip r:embed="rId14">
            <a:lum bright="70000" contrast="-70000"/>
          </a:blip>
          <a:stretch>
            <a:fillRect/>
          </a:stretch>
        </p:blipFill>
        <p:spPr>
          <a:xfrm>
            <a:off x="540000" y="140000"/>
            <a:ext cx="1359000" cy="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390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iamond Large">
            <a:extLst>
              <a:ext uri="{FF2B5EF4-FFF2-40B4-BE49-F238E27FC236}">
                <a16:creationId xmlns:a16="http://schemas.microsoft.com/office/drawing/2014/main" id="{4BD5828D-FA0B-470D-7827-EBC9BC76B3A6}"/>
              </a:ext>
            </a:extLst>
          </p:cNvPr>
          <p:cNvSpPr/>
          <p:nvPr/>
        </p:nvSpPr>
        <p:spPr>
          <a:xfrm rot="2700000">
            <a:off x="6444000" y="629000"/>
            <a:ext cx="5600000" cy="5600000"/>
          </a:xfrm>
          <a:prstGeom prst="rect">
            <a:avLst/>
          </a:prstGeom>
          <a:noFill/>
          <a:ln w="12700">
            <a:solidFill>
              <a:srgbClr val="00B8B8">
                <a:alpha val="3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Diamond Medium">
            <a:extLst>
              <a:ext uri="{FF2B5EF4-FFF2-40B4-BE49-F238E27FC236}">
                <a16:creationId xmlns:a16="http://schemas.microsoft.com/office/drawing/2014/main" id="{FFE6AA1F-DF0D-16A9-2580-DEC35D397A57}"/>
              </a:ext>
            </a:extLst>
          </p:cNvPr>
          <p:cNvSpPr/>
          <p:nvPr/>
        </p:nvSpPr>
        <p:spPr>
          <a:xfrm rot="2700000">
            <a:off x="7344000" y="1529000"/>
            <a:ext cx="3800000" cy="3800000"/>
          </a:xfrm>
          <a:prstGeom prst="rect">
            <a:avLst/>
          </a:prstGeom>
          <a:noFill/>
          <a:ln w="19050">
            <a:solidFill>
              <a:srgbClr val="00E6E6">
                <a:alpha val="4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Diamond Small">
            <a:extLst>
              <a:ext uri="{FF2B5EF4-FFF2-40B4-BE49-F238E27FC236}">
                <a16:creationId xmlns:a16="http://schemas.microsoft.com/office/drawing/2014/main" id="{62947EF9-4D81-6EBC-C6C3-F3AA21306C7D}"/>
              </a:ext>
            </a:extLst>
          </p:cNvPr>
          <p:cNvSpPr/>
          <p:nvPr/>
        </p:nvSpPr>
        <p:spPr>
          <a:xfrm rot="2700000">
            <a:off x="8144000" y="2329000"/>
            <a:ext cx="2200000" cy="2200000"/>
          </a:xfrm>
          <a:prstGeom prst="rect">
            <a:avLst/>
          </a:prstGeom>
          <a:noFill/>
          <a:ln w="25400">
            <a:solidFill>
              <a:srgbClr val="00FFE0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Diamond Core">
            <a:extLst>
              <a:ext uri="{FF2B5EF4-FFF2-40B4-BE49-F238E27FC236}">
                <a16:creationId xmlns:a16="http://schemas.microsoft.com/office/drawing/2014/main" id="{FEB18751-25CB-2826-A41D-F09C92CA9B69}"/>
              </a:ext>
            </a:extLst>
          </p:cNvPr>
          <p:cNvSpPr/>
          <p:nvPr/>
        </p:nvSpPr>
        <p:spPr>
          <a:xfrm rot="2700000">
            <a:off x="8844000" y="3029000"/>
            <a:ext cx="800000" cy="800000"/>
          </a:xfrm>
          <a:prstGeom prst="rect">
            <a:avLst/>
          </a:prstGeom>
          <a:solidFill>
            <a:srgbClr val="00E6E6">
              <a:alpha val="15000"/>
            </a:srgbClr>
          </a:solidFill>
          <a:ln w="19050">
            <a:solidFill>
              <a:srgbClr val="00FFE0">
                <a:alpha val="80000"/>
              </a:srgbClr>
            </a:solidFill>
          </a:ln>
          <a:effectLst>
            <a:outerShdw blurRad="300000" algn="ctr" rotWithShape="0">
              <a:srgbClr val="00E6E6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cxnSp>
        <p:nvCxnSpPr>
          <p:cNvPr id="27" name="Line H1">
            <a:extLst>
              <a:ext uri="{FF2B5EF4-FFF2-40B4-BE49-F238E27FC236}">
                <a16:creationId xmlns:a16="http://schemas.microsoft.com/office/drawing/2014/main" id="{C21E4FDC-4090-BA3A-2576-D66D20A8C18F}"/>
              </a:ext>
            </a:extLst>
          </p:cNvPr>
          <p:cNvCxnSpPr/>
          <p:nvPr/>
        </p:nvCxnSpPr>
        <p:spPr>
          <a:xfrm>
            <a:off x="5800000" y="3429000"/>
            <a:ext cx="3444000" cy="0"/>
          </a:xfrm>
          <a:prstGeom prst="line">
            <a:avLst/>
          </a:prstGeom>
          <a:ln w="9525">
            <a:solidFill>
              <a:srgbClr val="00E6E6">
                <a:alpha val="50000"/>
              </a:srgbClr>
            </a:solidFill>
          </a:ln>
        </p:spPr>
      </p:cxnSp>
      <p:cxnSp>
        <p:nvCxnSpPr>
          <p:cNvPr id="28" name="Line D1">
            <a:extLst>
              <a:ext uri="{FF2B5EF4-FFF2-40B4-BE49-F238E27FC236}">
                <a16:creationId xmlns:a16="http://schemas.microsoft.com/office/drawing/2014/main" id="{E448B88F-3CB6-33B9-EE5E-B3388A4B2D5E}"/>
              </a:ext>
            </a:extLst>
          </p:cNvPr>
          <p:cNvCxnSpPr/>
          <p:nvPr/>
        </p:nvCxnSpPr>
        <p:spPr>
          <a:xfrm>
            <a:off x="7200000" y="400000"/>
            <a:ext cx="4000000" cy="4000000"/>
          </a:xfrm>
          <a:prstGeom prst="line">
            <a:avLst/>
          </a:prstGeom>
          <a:ln w="6350">
            <a:solidFill>
              <a:srgbClr val="00B8B8">
                <a:alpha val="25000"/>
              </a:srgbClr>
            </a:solidFill>
          </a:ln>
        </p:spPr>
      </p:cxnSp>
      <p:cxnSp>
        <p:nvCxnSpPr>
          <p:cNvPr id="29" name="Line D2">
            <a:extLst>
              <a:ext uri="{FF2B5EF4-FFF2-40B4-BE49-F238E27FC236}">
                <a16:creationId xmlns:a16="http://schemas.microsoft.com/office/drawing/2014/main" id="{A33673AE-332D-FC11-A06B-11CEB6C95B17}"/>
              </a:ext>
            </a:extLst>
          </p:cNvPr>
          <p:cNvCxnSpPr/>
          <p:nvPr/>
        </p:nvCxnSpPr>
        <p:spPr>
          <a:xfrm flipV="1">
            <a:off x="7200000" y="2458000"/>
            <a:ext cx="4000000" cy="4000000"/>
          </a:xfrm>
          <a:prstGeom prst="line">
            <a:avLst/>
          </a:prstGeom>
          <a:ln w="6350">
            <a:solidFill>
              <a:srgbClr val="00B8B8">
                <a:alpha val="25000"/>
              </a:srgbClr>
            </a:solidFill>
          </a:ln>
        </p:spPr>
      </p:cxnSp>
      <p:sp>
        <p:nvSpPr>
          <p:cNvPr id="30" name="Node 1">
            <a:extLst>
              <a:ext uri="{FF2B5EF4-FFF2-40B4-BE49-F238E27FC236}">
                <a16:creationId xmlns:a16="http://schemas.microsoft.com/office/drawing/2014/main" id="{67AF986A-1FD8-507B-6630-D7131AD0F66F}"/>
              </a:ext>
            </a:extLst>
          </p:cNvPr>
          <p:cNvSpPr/>
          <p:nvPr/>
        </p:nvSpPr>
        <p:spPr>
          <a:xfrm>
            <a:off x="5720000" y="3349000"/>
            <a:ext cx="160000" cy="160000"/>
          </a:xfrm>
          <a:prstGeom prst="ellipse">
            <a:avLst/>
          </a:prstGeom>
          <a:solidFill>
            <a:srgbClr val="00FFE0"/>
          </a:solidFill>
          <a:ln w="0">
            <a:noFill/>
          </a:ln>
          <a:effectLst>
            <a:outerShdw blurRad="200000" algn="ctr" rotWithShape="0">
              <a:srgbClr val="00FFE0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Node 2">
            <a:extLst>
              <a:ext uri="{FF2B5EF4-FFF2-40B4-BE49-F238E27FC236}">
                <a16:creationId xmlns:a16="http://schemas.microsoft.com/office/drawing/2014/main" id="{8DF57795-0056-5E31-9EF3-F9483FD75A1E}"/>
              </a:ext>
            </a:extLst>
          </p:cNvPr>
          <p:cNvSpPr/>
          <p:nvPr/>
        </p:nvSpPr>
        <p:spPr>
          <a:xfrm>
            <a:off x="9174000" y="600000"/>
            <a:ext cx="140000" cy="140000"/>
          </a:xfrm>
          <a:prstGeom prst="ellipse">
            <a:avLst/>
          </a:prstGeom>
          <a:solidFill>
            <a:srgbClr val="00E6E6">
              <a:alpha val="70000"/>
            </a:srgbClr>
          </a:solidFill>
          <a:ln w="0">
            <a:noFill/>
          </a:ln>
          <a:effectLst>
            <a:outerShdw blurRad="150000" algn="ctr" rotWithShape="0">
              <a:srgbClr val="00E6E6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Node 3">
            <a:extLst>
              <a:ext uri="{FF2B5EF4-FFF2-40B4-BE49-F238E27FC236}">
                <a16:creationId xmlns:a16="http://schemas.microsoft.com/office/drawing/2014/main" id="{BC37B3BF-1BF6-8700-A980-C7CE95CE3D5F}"/>
              </a:ext>
            </a:extLst>
          </p:cNvPr>
          <p:cNvSpPr/>
          <p:nvPr/>
        </p:nvSpPr>
        <p:spPr>
          <a:xfrm>
            <a:off x="11500000" y="3370000"/>
            <a:ext cx="120000" cy="120000"/>
          </a:xfrm>
          <a:prstGeom prst="ellipse">
            <a:avLst/>
          </a:prstGeom>
          <a:solidFill>
            <a:srgbClr val="00FFE0">
              <a:alpha val="60000"/>
            </a:srgbClr>
          </a:solidFill>
          <a:ln w="0">
            <a:noFill/>
          </a:ln>
          <a:effectLst>
            <a:outerShdw blurRad="150000" algn="ctr" rotWithShape="0">
              <a:srgbClr val="00FFE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Node 4">
            <a:extLst>
              <a:ext uri="{FF2B5EF4-FFF2-40B4-BE49-F238E27FC236}">
                <a16:creationId xmlns:a16="http://schemas.microsoft.com/office/drawing/2014/main" id="{2C17F041-592E-628A-A340-C74D9E45DD72}"/>
              </a:ext>
            </a:extLst>
          </p:cNvPr>
          <p:cNvSpPr/>
          <p:nvPr/>
        </p:nvSpPr>
        <p:spPr>
          <a:xfrm>
            <a:off x="9174000" y="6150000"/>
            <a:ext cx="140000" cy="140000"/>
          </a:xfrm>
          <a:prstGeom prst="ellipse">
            <a:avLst/>
          </a:prstGeom>
          <a:solidFill>
            <a:srgbClr val="00B8B8">
              <a:alpha val="50000"/>
            </a:srgbClr>
          </a:solidFill>
          <a:ln w="0">
            <a:noFill/>
          </a:ln>
          <a:effectLst>
            <a:outerShdw blurRad="150000" algn="ctr" rotWithShape="0">
              <a:srgbClr val="00B8B8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Hexagon Accent">
            <a:extLst>
              <a:ext uri="{FF2B5EF4-FFF2-40B4-BE49-F238E27FC236}">
                <a16:creationId xmlns:a16="http://schemas.microsoft.com/office/drawing/2014/main" id="{50EB2970-4783-AE48-3697-5A63B5DE24C4}"/>
              </a:ext>
            </a:extLst>
          </p:cNvPr>
          <p:cNvSpPr/>
          <p:nvPr/>
        </p:nvSpPr>
        <p:spPr>
          <a:xfrm rot="5400000">
            <a:off x="10200000" y="400000"/>
            <a:ext cx="1800000" cy="1800000"/>
          </a:xfrm>
          <a:prstGeom prst="hexagon">
            <a:avLst/>
          </a:prstGeom>
          <a:noFill/>
          <a:ln w="9525">
            <a:solidFill>
              <a:srgbClr val="00B8B8">
                <a:alpha val="2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Hexagon Accent 2">
            <a:extLst>
              <a:ext uri="{FF2B5EF4-FFF2-40B4-BE49-F238E27FC236}">
                <a16:creationId xmlns:a16="http://schemas.microsoft.com/office/drawing/2014/main" id="{228A2DA4-F506-9460-D7B5-36C242B9487C}"/>
              </a:ext>
            </a:extLst>
          </p:cNvPr>
          <p:cNvSpPr/>
          <p:nvPr/>
        </p:nvSpPr>
        <p:spPr>
          <a:xfrm rot="5400000">
            <a:off x="7000000" y="5200000"/>
            <a:ext cx="1400000" cy="1400000"/>
          </a:xfrm>
          <a:prstGeom prst="hexagon">
            <a:avLst/>
          </a:prstGeom>
          <a:noFill/>
          <a:ln w="6350">
            <a:solidFill>
              <a:srgbClr val="00E6E6">
                <a:alpha val="1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36" name="Line V1">
            <a:extLst>
              <a:ext uri="{FF2B5EF4-FFF2-40B4-BE49-F238E27FC236}">
                <a16:creationId xmlns:a16="http://schemas.microsoft.com/office/drawing/2014/main" id="{588CEB89-4259-B5BC-3E20-F3E5212EAC35}"/>
              </a:ext>
            </a:extLst>
          </p:cNvPr>
          <p:cNvCxnSpPr/>
          <p:nvPr/>
        </p:nvCxnSpPr>
        <p:spPr>
          <a:xfrm>
            <a:off x="6050000" y="500000"/>
            <a:ext cx="0" cy="5858000"/>
          </a:xfrm>
          <a:prstGeom prst="line">
            <a:avLst/>
          </a:prstGeom>
          <a:ln w="6350">
            <a:solidFill>
              <a:srgbClr val="00E6E6">
                <a:alpha val="18000"/>
              </a:srgbClr>
            </a:solidFill>
          </a:ln>
        </p:spPr>
      </p:cxnSp>
      <p:sp>
        <p:nvSpPr>
          <p:cNvPr id="38" name="Subtitle">
            <a:extLst>
              <a:ext uri="{FF2B5EF4-FFF2-40B4-BE49-F238E27FC236}">
                <a16:creationId xmlns:a16="http://schemas.microsoft.com/office/drawing/2014/main" id="{0E10D615-8865-699C-E837-88A6D2A30AA7}"/>
              </a:ext>
            </a:extLst>
          </p:cNvPr>
          <p:cNvSpPr txBox="1">
            <a:spLocks/>
          </p:cNvSpPr>
          <p:nvPr/>
        </p:nvSpPr>
        <p:spPr>
          <a:xfrm>
            <a:off x="800000" y="3509000"/>
            <a:ext cx="5000000" cy="50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dirty="0"/>
              <a:t>Innovate, Build, Transform with </a:t>
            </a:r>
            <a:r>
              <a:rPr lang="en-US" dirty="0">
                <a:solidFill>
                  <a:srgbClr val="92D050"/>
                </a:solidFill>
              </a:rPr>
              <a:t>Agentic AI</a:t>
            </a:r>
            <a:endParaRPr lang="en-US" sz="1600" b="0" kern="1200" dirty="0">
              <a:solidFill>
                <a:srgbClr val="92D050"/>
              </a:solidFill>
              <a:latin typeface="The Group TEXT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BE3A5D6-17E0-68F2-B105-0BEFBDB9E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32" y="2682050"/>
            <a:ext cx="6117831" cy="71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87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4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ft Bracket"/>
          <p:cNvSpPr/>
          <p:nvPr/>
        </p:nvSpPr>
        <p:spPr>
          <a:xfrm>
            <a:off x="392206" y="1230000"/>
            <a:ext cx="430000" cy="5050000"/>
          </a:xfrm>
          <a:prstGeom prst="leftBracket">
            <a:avLst/>
          </a:prstGeom>
          <a:noFill/>
          <a:ln w="69850" cap="rnd">
            <a:gradFill>
              <a:gsLst>
                <a:gs pos="0">
                  <a:srgbClr val="35D6AE"/>
                </a:gs>
                <a:gs pos="100000">
                  <a:srgbClr val="0C534A"/>
                </a:gs>
              </a:gsLst>
              <a:lin ang="5400000" scaled="1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ight Bracket"/>
          <p:cNvSpPr/>
          <p:nvPr/>
        </p:nvSpPr>
        <p:spPr>
          <a:xfrm>
            <a:off x="11369794" y="1230000"/>
            <a:ext cx="430000" cy="5050000"/>
          </a:xfrm>
          <a:prstGeom prst="rightBracket">
            <a:avLst/>
          </a:prstGeom>
          <a:noFill/>
          <a:ln w="69850" cap="rnd">
            <a:gradFill>
              <a:gsLst>
                <a:gs pos="0">
                  <a:srgbClr val="35D6AE"/>
                </a:gs>
                <a:gs pos="100000">
                  <a:srgbClr val="0C534A"/>
                </a:gs>
              </a:gsLst>
              <a:lin ang="5400000" scaled="1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Accent Bar"/>
          <p:cNvSpPr/>
          <p:nvPr/>
        </p:nvSpPr>
        <p:spPr>
          <a:xfrm>
            <a:off x="550000" y="1080000"/>
            <a:ext cx="1828800" cy="50000"/>
          </a:xfrm>
          <a:prstGeom prst="rect">
            <a:avLst/>
          </a:prstGeom>
          <a:solidFill>
            <a:srgbClr val="ACE8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8375D27-766B-B544-2A45-4A2B036DACDA}"/>
              </a:ext>
            </a:extLst>
          </p:cNvPr>
          <p:cNvSpPr txBox="1">
            <a:spLocks/>
          </p:cNvSpPr>
          <p:nvPr/>
        </p:nvSpPr>
        <p:spPr>
          <a:xfrm>
            <a:off x="1150000" y="1380000"/>
            <a:ext cx="9892000" cy="47500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ACE82E"/>
                </a:solidFill>
                <a:latin typeface="VW Text"/>
                <a:cs typeface="VW Text"/>
              </a:rPr>
              <a:t>Team Name: Uchiha Clan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ACE82E"/>
                </a:solidFill>
                <a:latin typeface="VW Text"/>
                <a:cs typeface="VW Text"/>
              </a:rPr>
              <a:t>Dept names: Delivery – [ Brands ]</a:t>
            </a:r>
          </a:p>
          <a:p>
            <a:pPr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2000" b="1" dirty="0">
                <a:solidFill>
                  <a:srgbClr val="ACE82E"/>
                </a:solidFill>
                <a:latin typeface="VW Text"/>
                <a:cs typeface="VW Text"/>
              </a:rPr>
              <a:t>Member Details: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Clr>
                <a:srgbClr val="35D6AE"/>
              </a:buClr>
              <a:buFont typeface="Arial"/>
              <a:buChar char="–"/>
            </a:pPr>
            <a:r>
              <a:rPr lang="en-US" sz="1700" i="1" dirty="0">
                <a:solidFill>
                  <a:srgbClr val="D2E0E0"/>
                </a:solidFill>
                <a:latin typeface="VW Text"/>
                <a:cs typeface="VW Text"/>
              </a:rPr>
              <a:t>Ajinkya Bhosale - Frontend Web Developer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Clr>
                <a:srgbClr val="35D6AE"/>
              </a:buClr>
              <a:buFont typeface="Arial"/>
              <a:buChar char="–"/>
            </a:pPr>
            <a:r>
              <a:rPr lang="en-US" sz="1700" i="1" dirty="0">
                <a:solidFill>
                  <a:srgbClr val="D2E0E0"/>
                </a:solidFill>
                <a:latin typeface="VW Text"/>
                <a:cs typeface="VW Text"/>
              </a:rPr>
              <a:t>Tushar Patil - Frontend </a:t>
            </a:r>
            <a:r>
              <a:rPr lang="en-US" sz="1700" i="1" dirty="0">
                <a:solidFill>
                  <a:srgbClr val="D2E0E0"/>
                </a:solidFill>
                <a:cs typeface="VW Text"/>
              </a:rPr>
              <a:t>Developer</a:t>
            </a:r>
            <a:endParaRPr lang="en-US" sz="1700" i="1" dirty="0">
              <a:solidFill>
                <a:srgbClr val="D2E0E0"/>
              </a:solidFill>
              <a:latin typeface="VW Text"/>
              <a:cs typeface="VW Text"/>
            </a:endParaRP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Clr>
                <a:srgbClr val="35D6AE"/>
              </a:buClr>
              <a:buFont typeface="Arial"/>
              <a:buChar char="–"/>
            </a:pPr>
            <a:r>
              <a:rPr lang="en-US" sz="1700" i="1" dirty="0" err="1">
                <a:solidFill>
                  <a:srgbClr val="D2E0E0"/>
                </a:solidFill>
                <a:latin typeface="VW Text"/>
                <a:cs typeface="VW Text"/>
              </a:rPr>
              <a:t>Senjuti</a:t>
            </a:r>
            <a:r>
              <a:rPr lang="en-US" sz="1700" i="1" dirty="0">
                <a:solidFill>
                  <a:srgbClr val="D2E0E0"/>
                </a:solidFill>
                <a:latin typeface="VW Text"/>
                <a:cs typeface="VW Text"/>
              </a:rPr>
              <a:t> Halder - Java Full stack Developer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Clr>
                <a:srgbClr val="35D6AE"/>
              </a:buClr>
              <a:buFont typeface="Arial"/>
              <a:buChar char="–"/>
            </a:pPr>
            <a:r>
              <a:rPr lang="en-US" sz="1700" i="1" dirty="0">
                <a:solidFill>
                  <a:srgbClr val="D2E0E0"/>
                </a:solidFill>
                <a:latin typeface="VW Text"/>
                <a:cs typeface="VW Text"/>
              </a:rPr>
              <a:t>Vitthal </a:t>
            </a:r>
            <a:r>
              <a:rPr lang="en-US" sz="1700" i="1" dirty="0" err="1">
                <a:solidFill>
                  <a:srgbClr val="D2E0E0"/>
                </a:solidFill>
                <a:latin typeface="VW Text"/>
                <a:cs typeface="VW Text"/>
              </a:rPr>
              <a:t>Gontalwar</a:t>
            </a:r>
            <a:r>
              <a:rPr lang="en-US" sz="1700" i="1">
                <a:solidFill>
                  <a:srgbClr val="D2E0E0"/>
                </a:solidFill>
                <a:latin typeface="VW Text"/>
                <a:cs typeface="VW Text"/>
              </a:rPr>
              <a:t> - </a:t>
            </a:r>
            <a:r>
              <a:rPr lang="en-US" sz="1700" i="1" dirty="0">
                <a:solidFill>
                  <a:srgbClr val="D2E0E0"/>
                </a:solidFill>
                <a:latin typeface="VW Text"/>
                <a:cs typeface="VW Text"/>
              </a:rPr>
              <a:t>QA </a:t>
            </a:r>
          </a:p>
          <a:p>
            <a:pPr>
              <a:lnSpc>
                <a:spcPct val="100000"/>
              </a:lnSpc>
              <a:spcBef>
                <a:spcPts val="1200"/>
              </a:spcBef>
              <a:buNone/>
            </a:pPr>
            <a:endParaRPr lang="en-US" sz="2000" b="1" dirty="0">
              <a:solidFill>
                <a:srgbClr val="ACE82E"/>
              </a:solidFill>
              <a:latin typeface="VW Text"/>
              <a:cs typeface="VW Text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2000" b="1" dirty="0">
                <a:solidFill>
                  <a:srgbClr val="ACE82E"/>
                </a:solidFill>
                <a:latin typeface="VW Text"/>
                <a:cs typeface="VW Text"/>
              </a:rPr>
              <a:t>Problem Statement: </a:t>
            </a:r>
            <a:r>
              <a:rPr lang="en-US" sz="1700" i="1" dirty="0">
                <a:solidFill>
                  <a:srgbClr val="D2E0E0"/>
                </a:solidFill>
                <a:latin typeface="VW Text"/>
                <a:cs typeface="VW Text"/>
              </a:rPr>
              <a:t>( </a:t>
            </a:r>
            <a:r>
              <a:rPr lang="en-US" dirty="0"/>
              <a:t>Warehouse Data Quality AI </a:t>
            </a:r>
            <a:r>
              <a:rPr lang="en-US" sz="1700" i="1" dirty="0">
                <a:solidFill>
                  <a:srgbClr val="D2E0E0"/>
                </a:solidFill>
                <a:latin typeface="VW Text"/>
                <a:cs typeface="VW Text"/>
              </a:rPr>
              <a:t>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D359513-A763-DFE2-C649-0E423FCBCB33}"/>
              </a:ext>
            </a:extLst>
          </p:cNvPr>
          <p:cNvSpPr txBox="1">
            <a:spLocks/>
          </p:cNvSpPr>
          <p:nvPr/>
        </p:nvSpPr>
        <p:spPr>
          <a:xfrm>
            <a:off x="540002" y="560000"/>
            <a:ext cx="9210425" cy="832913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4000">
                <a:solidFill>
                  <a:srgbClr val="FFFFFF"/>
                </a:solidFill>
                <a:latin typeface="VW Head"/>
                <a:cs typeface="VW Head"/>
              </a:rPr>
              <a:t>Team Name and Member Details</a:t>
            </a:r>
          </a:p>
        </p:txBody>
      </p:sp>
    </p:spTree>
    <p:extLst>
      <p:ext uri="{BB962C8B-B14F-4D97-AF65-F5344CB8AC3E}">
        <p14:creationId xmlns:p14="http://schemas.microsoft.com/office/powerpoint/2010/main" val="2934288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F7E69A-F5DE-0AEE-44A2-70943AB9378D}"/>
              </a:ext>
            </a:extLst>
          </p:cNvPr>
          <p:cNvSpPr/>
          <p:nvPr/>
        </p:nvSpPr>
        <p:spPr>
          <a:xfrm>
            <a:off x="350728" y="1277655"/>
            <a:ext cx="8154445" cy="1941534"/>
          </a:xfrm>
          <a:prstGeom prst="rect">
            <a:avLst/>
          </a:prstGeom>
          <a:solidFill>
            <a:srgbClr val="0E4A47">
              <a:alpha val="55000"/>
            </a:srgbClr>
          </a:solidFill>
          <a:ln w="19050">
            <a:solidFill>
              <a:srgbClr val="35D6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28600" rtlCol="0" anchor="t"/>
          <a:lstStyle/>
          <a:p>
            <a:r>
              <a:rPr lang="en-US" b="1" dirty="0">
                <a:solidFill>
                  <a:srgbClr val="ACE82E"/>
                </a:solidFill>
              </a:rPr>
              <a:t>Your Analysis of the Problem Statement </a:t>
            </a:r>
          </a:p>
          <a:p>
            <a:r>
              <a:rPr lang="en-US" sz="1400" dirty="0"/>
              <a:t>Warehouse and logistics data is distributed across multiple systems such as ERP, WMS, inventory, planning, and dispatch platforms, making it difficult to detect inconsistencies early.</a:t>
            </a:r>
            <a:br>
              <a:rPr lang="en-US" sz="1400" dirty="0"/>
            </a:br>
            <a:r>
              <a:rPr lang="en-US" sz="1400" dirty="0"/>
              <a:t>These data-quality issues can trigger operational problems such as stock mismatches, dispatch delays, misrouting, and replenishment failures.</a:t>
            </a:r>
            <a:br>
              <a:rPr lang="en-US" sz="1400" dirty="0"/>
            </a:br>
            <a:r>
              <a:rPr lang="en-US" sz="1400" dirty="0"/>
              <a:t>Our solution uses Agentic AI to continuously detect, correlate, explain, prioritize, and recommend corrective actions for these issues while keeping humans in control of final execution.</a:t>
            </a:r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3B044B-4E2C-B18E-B8D5-6C7739788417}"/>
              </a:ext>
            </a:extLst>
          </p:cNvPr>
          <p:cNvSpPr/>
          <p:nvPr/>
        </p:nvSpPr>
        <p:spPr>
          <a:xfrm>
            <a:off x="350727" y="3428999"/>
            <a:ext cx="8154445" cy="3209795"/>
          </a:xfrm>
          <a:prstGeom prst="rect">
            <a:avLst/>
          </a:prstGeom>
          <a:solidFill>
            <a:srgbClr val="0E4A47">
              <a:alpha val="55000"/>
            </a:srgbClr>
          </a:solidFill>
          <a:ln w="19050">
            <a:solidFill>
              <a:srgbClr val="35D6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28600" rtlCol="0" anchor="t"/>
          <a:lstStyle/>
          <a:p>
            <a:r>
              <a:rPr lang="en-US" b="1" dirty="0">
                <a:solidFill>
                  <a:srgbClr val="ACE82E"/>
                </a:solidFill>
              </a:rPr>
              <a:t>Your Solution Overview: </a:t>
            </a:r>
          </a:p>
          <a:p>
            <a:endParaRPr lang="en-US" dirty="0"/>
          </a:p>
          <a:p>
            <a:r>
              <a:rPr lang="en-US" dirty="0"/>
              <a:t>We built a real-time Warehouse Data Quality &amp; Anomaly Control Center powered by </a:t>
            </a:r>
            <a:r>
              <a:rPr lang="en-US" dirty="0" err="1"/>
              <a:t>React.js</a:t>
            </a:r>
            <a:r>
              <a:rPr lang="en-US" dirty="0"/>
              <a:t>/</a:t>
            </a:r>
            <a:r>
              <a:rPr lang="en-US" dirty="0" err="1"/>
              <a:t>Next.js</a:t>
            </a:r>
            <a:r>
              <a:rPr lang="en-US" dirty="0"/>
              <a:t>, DB, and AI micro-agents. The system continuously ingests inventory, master data, and dispatch streams across ERP and WMS to catch bad records early. It correlates isolated anomalies into single root-cause trees and surfaces them on an intuitive Live Radar dashboard. Operators receive actionable, automated fix recommendations with a one-click database write-back approval workflow and full audit logging.</a:t>
            </a:r>
          </a:p>
          <a:p>
            <a:r>
              <a:rPr lang="en-US" i="1" dirty="0"/>
              <a:t> 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3E5531-4FFC-B276-B554-D6966025EC9F}"/>
              </a:ext>
            </a:extLst>
          </p:cNvPr>
          <p:cNvSpPr txBox="1">
            <a:spLocks/>
          </p:cNvSpPr>
          <p:nvPr/>
        </p:nvSpPr>
        <p:spPr>
          <a:xfrm>
            <a:off x="540002" y="560000"/>
            <a:ext cx="9210425" cy="8329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FFFFFF"/>
                </a:solidFill>
                <a:latin typeface="VW Head"/>
                <a:cs typeface="VW Head"/>
              </a:rPr>
              <a:t>Problem Statement- Solution </a:t>
            </a:r>
          </a:p>
        </p:txBody>
      </p:sp>
      <p:sp>
        <p:nvSpPr>
          <p:cNvPr id="60" name="Accent Bar"/>
          <p:cNvSpPr/>
          <p:nvPr/>
        </p:nvSpPr>
        <p:spPr>
          <a:xfrm>
            <a:off x="550000" y="1110000"/>
            <a:ext cx="1828800" cy="50000"/>
          </a:xfrm>
          <a:prstGeom prst="rect">
            <a:avLst/>
          </a:prstGeom>
          <a:solidFill>
            <a:srgbClr val="ACE8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0E9FF6-2104-8D28-1262-7600FBCA1AC8}"/>
              </a:ext>
            </a:extLst>
          </p:cNvPr>
          <p:cNvSpPr/>
          <p:nvPr/>
        </p:nvSpPr>
        <p:spPr>
          <a:xfrm>
            <a:off x="8653346" y="1277655"/>
            <a:ext cx="3187926" cy="5360742"/>
          </a:xfrm>
          <a:prstGeom prst="rect">
            <a:avLst/>
          </a:prstGeom>
          <a:solidFill>
            <a:srgbClr val="0E4A47">
              <a:alpha val="55000"/>
            </a:srgbClr>
          </a:solidFill>
          <a:ln w="19050">
            <a:solidFill>
              <a:srgbClr val="35D6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28600" rtlCol="0" anchor="t"/>
          <a:lstStyle/>
          <a:p>
            <a:r>
              <a:rPr lang="en-US" b="1" dirty="0">
                <a:solidFill>
                  <a:srgbClr val="ACE82E"/>
                </a:solidFill>
              </a:rPr>
              <a:t>How you are utilizing Agentic AI</a:t>
            </a:r>
          </a:p>
          <a:p>
            <a:r>
              <a:rPr lang="en-US" dirty="0"/>
              <a:t>We use specialized AI agents to monitor warehouse, inventory, master-data, and dispatch data.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Data Validation Agent</a:t>
            </a:r>
            <a:r>
              <a:rPr lang="en-US" dirty="0"/>
              <a:t> detects missing, outdated, and inconsistent records.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Root Cause Agent</a:t>
            </a:r>
            <a:r>
              <a:rPr lang="en-US" dirty="0"/>
              <a:t> connects related anomalies and identifies the likely source of the </a:t>
            </a:r>
            <a:r>
              <a:rPr lang="en-US" dirty="0" err="1"/>
              <a:t>issue.The</a:t>
            </a:r>
            <a:r>
              <a:rPr lang="en-US" dirty="0"/>
              <a:t> </a:t>
            </a:r>
            <a:r>
              <a:rPr lang="en-US" b="1" dirty="0"/>
              <a:t>Resolution Agent</a:t>
            </a:r>
            <a:r>
              <a:rPr lang="en-US" dirty="0"/>
              <a:t> recommends corrective actions and prepares the required update. Operators approve the action, ensuring human oversight and a complete audit trail.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43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0B136-325C-AE82-A061-164080C56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65EFDD7-6353-397B-99DC-DA042FADE58E}"/>
              </a:ext>
            </a:extLst>
          </p:cNvPr>
          <p:cNvSpPr txBox="1">
            <a:spLocks/>
          </p:cNvSpPr>
          <p:nvPr/>
        </p:nvSpPr>
        <p:spPr>
          <a:xfrm>
            <a:off x="540002" y="560000"/>
            <a:ext cx="9210425" cy="8329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VW Head"/>
                <a:ea typeface="+mj-ea"/>
                <a:cs typeface="VW Head"/>
              </a:defRPr>
            </a:lvl1pPr>
          </a:lstStyle>
          <a:p>
            <a:r>
              <a:rPr lang="en-US" dirty="0">
                <a:solidFill>
                  <a:srgbClr val="FFFFFF"/>
                </a:solidFill>
                <a:latin typeface="VW Head"/>
                <a:cs typeface="VW Head"/>
              </a:rPr>
              <a:t>Problem Statement- Solution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BE9E93-E8E0-9989-E086-57E705CE286F}"/>
              </a:ext>
            </a:extLst>
          </p:cNvPr>
          <p:cNvSpPr/>
          <p:nvPr/>
        </p:nvSpPr>
        <p:spPr>
          <a:xfrm>
            <a:off x="7528141" y="1324258"/>
            <a:ext cx="4580351" cy="4899211"/>
          </a:xfrm>
          <a:prstGeom prst="rect">
            <a:avLst/>
          </a:prstGeom>
          <a:solidFill>
            <a:srgbClr val="0E4A47">
              <a:alpha val="55000"/>
            </a:srgbClr>
          </a:solidFill>
          <a:ln w="19050">
            <a:solidFill>
              <a:srgbClr val="35D6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ACE82E"/>
                </a:solidFill>
              </a:rPr>
              <a:t>Some useful pointers to aim for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• A well-defined problem statement</a:t>
            </a:r>
          </a:p>
          <a:p>
            <a:r>
              <a:rPr lang="en-US" dirty="0"/>
              <a:t>• User-journey maps</a:t>
            </a:r>
          </a:p>
          <a:p>
            <a:r>
              <a:rPr lang="en-US" dirty="0"/>
              <a:t>• User-needs statements</a:t>
            </a:r>
          </a:p>
          <a:p>
            <a:r>
              <a:rPr lang="en-US" dirty="0"/>
              <a:t>• A product blueprint</a:t>
            </a:r>
          </a:p>
          <a:p>
            <a:r>
              <a:rPr lang="en-US" dirty="0"/>
              <a:t>• User Personas</a:t>
            </a:r>
          </a:p>
          <a:p>
            <a:r>
              <a:rPr lang="en-US" dirty="0"/>
              <a:t>• Business Value Propositions</a:t>
            </a:r>
          </a:p>
          <a:p>
            <a:r>
              <a:rPr lang="en-US" dirty="0"/>
              <a:t>• High-level wireframes</a:t>
            </a:r>
          </a:p>
        </p:txBody>
      </p:sp>
      <p:sp>
        <p:nvSpPr>
          <p:cNvPr id="60" name="Accent Bar">
            <a:extLst>
              <a:ext uri="{FF2B5EF4-FFF2-40B4-BE49-F238E27FC236}">
                <a16:creationId xmlns:a16="http://schemas.microsoft.com/office/drawing/2014/main" id="{9BC74656-27C0-21FA-7C86-EE5AFBF52AAB}"/>
              </a:ext>
            </a:extLst>
          </p:cNvPr>
          <p:cNvSpPr/>
          <p:nvPr/>
        </p:nvSpPr>
        <p:spPr>
          <a:xfrm>
            <a:off x="550000" y="1110000"/>
            <a:ext cx="1828800" cy="50000"/>
          </a:xfrm>
          <a:prstGeom prst="rect">
            <a:avLst/>
          </a:prstGeom>
          <a:solidFill>
            <a:srgbClr val="ACE8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C6D3E5-710B-BFBF-16BB-E310A84B70D6}"/>
              </a:ext>
            </a:extLst>
          </p:cNvPr>
          <p:cNvSpPr txBox="1"/>
          <p:nvPr/>
        </p:nvSpPr>
        <p:spPr>
          <a:xfrm>
            <a:off x="550000" y="2109049"/>
            <a:ext cx="609805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Value Proposition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Detect data issues early before they affect operations.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Reduce stock mismatches and dispatch delays.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Identify the root cause instead of just showing errors.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Give operators clear, AI-powered action recommendations.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Reduce manual investigation and escalation effort.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Keep humans in control with approval and audit tracking.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Improve data accuracy and operational visibility.</a:t>
            </a:r>
          </a:p>
        </p:txBody>
      </p:sp>
    </p:spTree>
    <p:extLst>
      <p:ext uri="{BB962C8B-B14F-4D97-AF65-F5344CB8AC3E}">
        <p14:creationId xmlns:p14="http://schemas.microsoft.com/office/powerpoint/2010/main" val="2612808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CF5AA-49A2-29E1-20EA-1ECC77FD7AB2}"/>
              </a:ext>
            </a:extLst>
          </p:cNvPr>
          <p:cNvSpPr txBox="1">
            <a:spLocks/>
          </p:cNvSpPr>
          <p:nvPr/>
        </p:nvSpPr>
        <p:spPr>
          <a:xfrm>
            <a:off x="540002" y="560000"/>
            <a:ext cx="9210425" cy="8329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FFFFFF"/>
                </a:solidFill>
                <a:latin typeface="VW Head"/>
                <a:cs typeface="VW Head"/>
              </a:rPr>
              <a:t>Business Opportunity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98070-7A6C-6B5D-D953-9299D7BEDF01}"/>
              </a:ext>
            </a:extLst>
          </p:cNvPr>
          <p:cNvSpPr txBox="1">
            <a:spLocks/>
          </p:cNvSpPr>
          <p:nvPr/>
        </p:nvSpPr>
        <p:spPr>
          <a:xfrm>
            <a:off x="539998" y="1623600"/>
            <a:ext cx="10124191" cy="4572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buClr>
                <a:srgbClr val="D2E0E0"/>
              </a:buClr>
              <a:buSzPts val="2000"/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D2E0E0"/>
                </a:solidFill>
                <a:latin typeface="Calibri"/>
                <a:cs typeface="Calibri"/>
                <a:sym typeface="Calibri"/>
              </a:rPr>
              <a:t>Explain the overall </a:t>
            </a:r>
            <a:r>
              <a:rPr lang="en-US" sz="2400" dirty="0">
                <a:solidFill>
                  <a:srgbClr val="ACE82E"/>
                </a:solidFill>
                <a:latin typeface="Calibri"/>
                <a:cs typeface="Calibri"/>
                <a:sym typeface="Calibri"/>
              </a:rPr>
              <a:t>Business Opportunity </a:t>
            </a:r>
            <a:r>
              <a:rPr lang="en-US" sz="2400" dirty="0">
                <a:solidFill>
                  <a:srgbClr val="D2E0E0"/>
                </a:solidFill>
                <a:latin typeface="Calibri"/>
                <a:cs typeface="Calibri"/>
                <a:sym typeface="Calibri"/>
              </a:rPr>
              <a:t>for VW</a:t>
            </a:r>
          </a:p>
          <a:p>
            <a:pPr marL="914400" lvl="2" indent="0">
              <a:buClr>
                <a:srgbClr val="D2E0E0"/>
              </a:buClr>
              <a:buSzPts val="2000"/>
              <a:buFont typeface="Arial" panose="020B0604020202020204" pitchFamily="34" charset="0"/>
              <a:buNone/>
            </a:pPr>
            <a:endParaRPr lang="en-US" sz="2400" dirty="0">
              <a:solidFill>
                <a:srgbClr val="D2E0E0"/>
              </a:solidFill>
              <a:latin typeface="Calibri"/>
              <a:cs typeface="Calibri"/>
              <a:sym typeface="Calibri"/>
            </a:endParaRPr>
          </a:p>
          <a:p>
            <a:pPr lvl="2">
              <a:buClr>
                <a:srgbClr val="D2E0E0"/>
              </a:buClr>
              <a:buSzPts val="2000"/>
            </a:pPr>
            <a:r>
              <a:rPr lang="en-US" b="1" dirty="0"/>
              <a:t>Target Users:</a:t>
            </a:r>
            <a:r>
              <a:rPr lang="en-US" dirty="0"/>
              <a:t> Warehouse operators, planners, dispatch teams, plant supervisors, and master-data teams.</a:t>
            </a:r>
          </a:p>
          <a:p>
            <a:pPr lvl="2">
              <a:buClr>
                <a:srgbClr val="D2E0E0"/>
              </a:buClr>
              <a:buSzPts val="2000"/>
            </a:pPr>
            <a:r>
              <a:rPr lang="en-US" b="1" dirty="0"/>
              <a:t>Value to VW:</a:t>
            </a:r>
            <a:r>
              <a:rPr lang="en-US" dirty="0"/>
              <a:t> Improve data reliability, reduce operational disruptions, and reduce manual investigation effort.</a:t>
            </a:r>
          </a:p>
          <a:p>
            <a:pPr lvl="2">
              <a:buClr>
                <a:srgbClr val="D2E0E0"/>
              </a:buClr>
              <a:buSzPts val="2000"/>
            </a:pPr>
            <a:r>
              <a:rPr lang="en-US" b="1" dirty="0"/>
              <a:t>Scalability:</a:t>
            </a:r>
            <a:r>
              <a:rPr lang="en-US" dirty="0"/>
              <a:t> Start with one warehouse or plant and expand across VW operations.</a:t>
            </a:r>
          </a:p>
          <a:p>
            <a:pPr lvl="2">
              <a:buClr>
                <a:srgbClr val="D2E0E0"/>
              </a:buClr>
              <a:buSzPts val="2000"/>
            </a:pPr>
            <a:r>
              <a:rPr lang="en-US" dirty="0"/>
              <a:t>Start with a low-cost POC using synthetic data, then move to production integration.</a:t>
            </a:r>
          </a:p>
          <a:p>
            <a:pPr lvl="2">
              <a:buClr>
                <a:srgbClr val="D2E0E0"/>
              </a:buClr>
              <a:buSzPts val="2000"/>
            </a:pPr>
            <a:r>
              <a:rPr lang="en-US" b="1" dirty="0"/>
              <a:t>Success Metrics:</a:t>
            </a:r>
            <a:r>
              <a:rPr lang="en-US" dirty="0"/>
              <a:t> Data-quality accuracy, detection time, resolution time, inventory accuracy, dispatch delays, misrouting, replenishment failures, and manual effort saved.</a:t>
            </a:r>
          </a:p>
          <a:p>
            <a:endParaRPr lang="en-US" sz="2400" dirty="0"/>
          </a:p>
        </p:txBody>
      </p:sp>
      <p:sp>
        <p:nvSpPr>
          <p:cNvPr id="60" name="Accent Bar"/>
          <p:cNvSpPr/>
          <p:nvPr/>
        </p:nvSpPr>
        <p:spPr>
          <a:xfrm>
            <a:off x="550000" y="1110000"/>
            <a:ext cx="1828800" cy="50000"/>
          </a:xfrm>
          <a:prstGeom prst="rect">
            <a:avLst/>
          </a:prstGeom>
          <a:solidFill>
            <a:srgbClr val="ACE8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81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5D40D-F8E2-4C61-CA46-9F3921C1C9B7}"/>
              </a:ext>
            </a:extLst>
          </p:cNvPr>
          <p:cNvSpPr txBox="1">
            <a:spLocks/>
          </p:cNvSpPr>
          <p:nvPr/>
        </p:nvSpPr>
        <p:spPr>
          <a:xfrm>
            <a:off x="540002" y="560000"/>
            <a:ext cx="9210425" cy="8329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FF"/>
                </a:solidFill>
                <a:latin typeface="VW Head"/>
                <a:cs typeface="VW Head"/>
              </a:rPr>
              <a:t>Additional Supporting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35BBF-F3F9-5632-2DB9-31CD6F8FCAB2}"/>
              </a:ext>
            </a:extLst>
          </p:cNvPr>
          <p:cNvSpPr txBox="1">
            <a:spLocks/>
          </p:cNvSpPr>
          <p:nvPr/>
        </p:nvSpPr>
        <p:spPr>
          <a:xfrm>
            <a:off x="539999" y="1623600"/>
            <a:ext cx="9212400" cy="4572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rgbClr val="D2E0E0"/>
              </a:buClr>
              <a:buSzPts val="2800"/>
              <a:buFont typeface="Arial"/>
              <a:buNone/>
            </a:pPr>
            <a:r>
              <a:rPr lang="en-US" dirty="0">
                <a:solidFill>
                  <a:srgbClr val="D2E0E0"/>
                </a:solidFill>
                <a:latin typeface="Calibri"/>
                <a:ea typeface="Calibri"/>
                <a:cs typeface="Calibri"/>
                <a:sym typeface="Calibri"/>
              </a:rPr>
              <a:t>Includes but not limited to</a:t>
            </a:r>
            <a:endParaRPr lang="en-US" dirty="0"/>
          </a:p>
          <a:p>
            <a:pPr lvl="0"/>
            <a:r>
              <a:rPr lang="en-US" sz="2000" dirty="0"/>
              <a:t>Multi-system warehouse and logistics environments </a:t>
            </a:r>
          </a:p>
          <a:p>
            <a:pPr lvl="0"/>
            <a:r>
              <a:rPr lang="en-US" sz="2000" dirty="0"/>
              <a:t>Increasing need for real-time data quality and anomaly detection </a:t>
            </a:r>
          </a:p>
          <a:p>
            <a:pPr lvl="0"/>
            <a:r>
              <a:rPr lang="en-US" sz="2000" dirty="0"/>
              <a:t>Opportunity to scale from one plant/warehouse to multiple VW operations</a:t>
            </a:r>
          </a:p>
          <a:p>
            <a:pPr lvl="0"/>
            <a:endParaRPr lang="en-US" sz="2000" dirty="0"/>
          </a:p>
          <a:p>
            <a:endParaRPr lang="en-US" dirty="0"/>
          </a:p>
        </p:txBody>
      </p:sp>
      <p:sp>
        <p:nvSpPr>
          <p:cNvPr id="60" name="Accent Bar"/>
          <p:cNvSpPr/>
          <p:nvPr/>
        </p:nvSpPr>
        <p:spPr>
          <a:xfrm>
            <a:off x="550000" y="1110000"/>
            <a:ext cx="1828800" cy="50000"/>
          </a:xfrm>
          <a:prstGeom prst="rect">
            <a:avLst/>
          </a:prstGeom>
          <a:solidFill>
            <a:srgbClr val="ACE8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F1B2E2AF-7017-BF86-C0A8-56361FD9F450}"/>
              </a:ext>
            </a:extLst>
          </p:cNvPr>
          <p:cNvSpPr/>
          <p:nvPr/>
        </p:nvSpPr>
        <p:spPr>
          <a:xfrm>
            <a:off x="539999" y="237348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1894A10F-554D-0447-1A80-E5A826301704}"/>
              </a:ext>
            </a:extLst>
          </p:cNvPr>
          <p:cNvSpPr/>
          <p:nvPr/>
        </p:nvSpPr>
        <p:spPr>
          <a:xfrm>
            <a:off x="558287" y="292212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61" name="Text 26">
            <a:extLst>
              <a:ext uri="{FF2B5EF4-FFF2-40B4-BE49-F238E27FC236}">
                <a16:creationId xmlns:a16="http://schemas.microsoft.com/office/drawing/2014/main" id="{2C20D109-1E7B-2CB4-350F-F42FAFA2AC1B}"/>
              </a:ext>
            </a:extLst>
          </p:cNvPr>
          <p:cNvSpPr/>
          <p:nvPr/>
        </p:nvSpPr>
        <p:spPr>
          <a:xfrm>
            <a:off x="2003039" y="701863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2" name="Slide Number Placeholder 0">
            <a:extLst>
              <a:ext uri="{FF2B5EF4-FFF2-40B4-BE49-F238E27FC236}">
                <a16:creationId xmlns:a16="http://schemas.microsoft.com/office/drawing/2014/main" id="{E13D47A2-F3AD-E183-08D3-69356B4277EB}"/>
              </a:ext>
            </a:extLst>
          </p:cNvPr>
          <p:cNvSpPr txBox="1">
            <a:spLocks/>
          </p:cNvSpPr>
          <p:nvPr/>
        </p:nvSpPr>
        <p:spPr>
          <a:xfrm>
            <a:off x="11741399" y="843595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rgbClr val="6B728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280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4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0FCA114-48F9-2168-6B01-977AA8E32584}"/>
              </a:ext>
            </a:extLst>
          </p:cNvPr>
          <p:cNvSpPr/>
          <p:nvPr/>
        </p:nvSpPr>
        <p:spPr>
          <a:xfrm>
            <a:off x="563880" y="952459"/>
            <a:ext cx="11064240" cy="5029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</a:rPr>
              <a:t> Dashboard / Wireframe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7595BD2-24E2-5E73-D5BD-666769AEEF4C}"/>
              </a:ext>
            </a:extLst>
          </p:cNvPr>
          <p:cNvSpPr/>
          <p:nvPr/>
        </p:nvSpPr>
        <p:spPr>
          <a:xfrm>
            <a:off x="582168" y="1501099"/>
            <a:ext cx="1097280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The landing page should answer three questions in 10 seconds: What is wrong? What matters? What should I do?</a:t>
            </a:r>
            <a:endParaRPr lang="en-US" sz="11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4C95111-34D3-5B18-F5F1-751D4DF995D2}"/>
              </a:ext>
            </a:extLst>
          </p:cNvPr>
          <p:cNvSpPr/>
          <p:nvPr/>
        </p:nvSpPr>
        <p:spPr>
          <a:xfrm>
            <a:off x="518160" y="1894291"/>
            <a:ext cx="16916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11FA83-7B96-626A-D517-F014D79FCC76}"/>
              </a:ext>
            </a:extLst>
          </p:cNvPr>
          <p:cNvSpPr/>
          <p:nvPr/>
        </p:nvSpPr>
        <p:spPr>
          <a:xfrm>
            <a:off x="627888" y="2049739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64545"/>
                </a:solidFill>
              </a:rPr>
              <a:t>23</a:t>
            </a:r>
            <a:endParaRPr lang="en-US" sz="2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D421C86-EDC6-DD0E-DA4D-1DA0E10660EC}"/>
              </a:ext>
            </a:extLst>
          </p:cNvPr>
          <p:cNvSpPr/>
          <p:nvPr/>
        </p:nvSpPr>
        <p:spPr>
          <a:xfrm>
            <a:off x="627888" y="2433787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Open incidents</a:t>
            </a:r>
            <a:endParaRPr lang="en-US" sz="8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90BFFB7-7181-944A-EB9A-0E57359810B8}"/>
              </a:ext>
            </a:extLst>
          </p:cNvPr>
          <p:cNvSpPr/>
          <p:nvPr/>
        </p:nvSpPr>
        <p:spPr>
          <a:xfrm>
            <a:off x="2438400" y="1894291"/>
            <a:ext cx="16916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71466B9-0CD9-2F9A-85F8-52EF712218AB}"/>
              </a:ext>
            </a:extLst>
          </p:cNvPr>
          <p:cNvSpPr/>
          <p:nvPr/>
        </p:nvSpPr>
        <p:spPr>
          <a:xfrm>
            <a:off x="2548128" y="2049739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9E0B"/>
                </a:solidFill>
              </a:rPr>
              <a:t>7</a:t>
            </a:r>
            <a:endParaRPr lang="en-US" sz="2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B4A2BCA-BB8F-F70A-F269-C48C56AFAAB9}"/>
              </a:ext>
            </a:extLst>
          </p:cNvPr>
          <p:cNvSpPr/>
          <p:nvPr/>
        </p:nvSpPr>
        <p:spPr>
          <a:xfrm>
            <a:off x="2548128" y="2433787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Critical</a:t>
            </a:r>
            <a:endParaRPr lang="en-US" sz="8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7C59BF2-2801-8E83-B929-9A198F0B5378}"/>
              </a:ext>
            </a:extLst>
          </p:cNvPr>
          <p:cNvSpPr/>
          <p:nvPr/>
        </p:nvSpPr>
        <p:spPr>
          <a:xfrm>
            <a:off x="4358640" y="1894291"/>
            <a:ext cx="16916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27D1BC4-8D43-D5CC-F8B0-8D7C4E527D00}"/>
              </a:ext>
            </a:extLst>
          </p:cNvPr>
          <p:cNvSpPr/>
          <p:nvPr/>
        </p:nvSpPr>
        <p:spPr>
          <a:xfrm>
            <a:off x="4468368" y="2049739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8B57"/>
                </a:solidFill>
              </a:rPr>
              <a:t>91%</a:t>
            </a:r>
            <a:endParaRPr lang="en-US" sz="2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FCAF83F-B72F-402A-9529-2B8B68A323B9}"/>
              </a:ext>
            </a:extLst>
          </p:cNvPr>
          <p:cNvSpPr/>
          <p:nvPr/>
        </p:nvSpPr>
        <p:spPr>
          <a:xfrm>
            <a:off x="4468368" y="2433787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Data health</a:t>
            </a:r>
            <a:endParaRPr lang="en-US" sz="8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41FDD73-4FFB-F6E0-FED4-9BEC54475EBD}"/>
              </a:ext>
            </a:extLst>
          </p:cNvPr>
          <p:cNvSpPr/>
          <p:nvPr/>
        </p:nvSpPr>
        <p:spPr>
          <a:xfrm>
            <a:off x="6278880" y="1894291"/>
            <a:ext cx="16916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38C2697-3002-7A51-F75D-373801E276B3}"/>
              </a:ext>
            </a:extLst>
          </p:cNvPr>
          <p:cNvSpPr/>
          <p:nvPr/>
        </p:nvSpPr>
        <p:spPr>
          <a:xfrm>
            <a:off x="6388608" y="2049739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7C3AED"/>
                </a:solidFill>
              </a:rPr>
              <a:t>14</a:t>
            </a:r>
            <a:endParaRPr lang="en-US" sz="2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72720D9-356D-BA6B-81BF-889DEF855AF8}"/>
              </a:ext>
            </a:extLst>
          </p:cNvPr>
          <p:cNvSpPr/>
          <p:nvPr/>
        </p:nvSpPr>
        <p:spPr>
          <a:xfrm>
            <a:off x="6388608" y="2433787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Actions awaiting approval</a:t>
            </a:r>
            <a:endParaRPr lang="en-US" sz="8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CE01F81-0696-108E-255D-ED80792899EF}"/>
              </a:ext>
            </a:extLst>
          </p:cNvPr>
          <p:cNvSpPr/>
          <p:nvPr/>
        </p:nvSpPr>
        <p:spPr>
          <a:xfrm>
            <a:off x="518160" y="3083011"/>
            <a:ext cx="7818120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F01912F-98D5-B029-9614-00995EA85CF3}"/>
              </a:ext>
            </a:extLst>
          </p:cNvPr>
          <p:cNvSpPr/>
          <p:nvPr/>
        </p:nvSpPr>
        <p:spPr>
          <a:xfrm>
            <a:off x="746760" y="3293323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Priority incidents</a:t>
            </a:r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23EA0FB-6206-EC45-946F-096621467E41}"/>
              </a:ext>
            </a:extLst>
          </p:cNvPr>
          <p:cNvSpPr/>
          <p:nvPr/>
        </p:nvSpPr>
        <p:spPr>
          <a:xfrm>
            <a:off x="746760" y="3723091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64545"/>
                </a:solidFill>
              </a:rPr>
              <a:t>CRITICAL</a:t>
            </a:r>
            <a:endParaRPr lang="en-US" sz="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C6A4F8C-A30E-070A-4AD8-97BF7C5BB2D5}"/>
              </a:ext>
            </a:extLst>
          </p:cNvPr>
          <p:cNvSpPr/>
          <p:nvPr/>
        </p:nvSpPr>
        <p:spPr>
          <a:xfrm>
            <a:off x="1661160" y="3723091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3"/>
                </a:solidFill>
              </a:rPr>
              <a:t>D1023</a:t>
            </a:r>
            <a:endParaRPr lang="en-US" sz="9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570AF05-A48F-FB89-2FDF-2EE9C79F6642}"/>
              </a:ext>
            </a:extLst>
          </p:cNvPr>
          <p:cNvSpPr/>
          <p:nvPr/>
        </p:nvSpPr>
        <p:spPr>
          <a:xfrm>
            <a:off x="2346960" y="3723091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202A"/>
                </a:solidFill>
              </a:rPr>
              <a:t>Misrouting risk</a:t>
            </a:r>
            <a:endParaRPr lang="en-US" sz="9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8E187B2-A09C-D882-8C41-9C453BD751E8}"/>
              </a:ext>
            </a:extLst>
          </p:cNvPr>
          <p:cNvSpPr/>
          <p:nvPr/>
        </p:nvSpPr>
        <p:spPr>
          <a:xfrm>
            <a:off x="3672840" y="3723091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Part P-441 master mismatch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539D5AA-3E0C-DCDD-4721-095B6B4100F5}"/>
              </a:ext>
            </a:extLst>
          </p:cNvPr>
          <p:cNvSpPr/>
          <p:nvPr/>
        </p:nvSpPr>
        <p:spPr>
          <a:xfrm>
            <a:off x="7010400" y="3723091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64545"/>
                </a:solidFill>
              </a:rPr>
              <a:t>12 min</a:t>
            </a:r>
            <a:endParaRPr lang="en-US" sz="9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8ACDF0E-CCC6-3540-39CB-5562D96F5E50}"/>
              </a:ext>
            </a:extLst>
          </p:cNvPr>
          <p:cNvSpPr/>
          <p:nvPr/>
        </p:nvSpPr>
        <p:spPr>
          <a:xfrm>
            <a:off x="746760" y="4226011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</a:rPr>
              <a:t>HIGH</a:t>
            </a:r>
            <a:endParaRPr lang="en-US" sz="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602192C-7D68-F854-1A2C-9E7185B9A7FC}"/>
              </a:ext>
            </a:extLst>
          </p:cNvPr>
          <p:cNvSpPr/>
          <p:nvPr/>
        </p:nvSpPr>
        <p:spPr>
          <a:xfrm>
            <a:off x="1661160" y="4226011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3"/>
                </a:solidFill>
              </a:rPr>
              <a:t>S7751</a:t>
            </a:r>
            <a:endParaRPr lang="en-US" sz="9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E2C581C-F258-64DD-1E5C-E326E5171244}"/>
              </a:ext>
            </a:extLst>
          </p:cNvPr>
          <p:cNvSpPr/>
          <p:nvPr/>
        </p:nvSpPr>
        <p:spPr>
          <a:xfrm>
            <a:off x="2346960" y="4226011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202A"/>
                </a:solidFill>
              </a:rPr>
              <a:t>Inventory mismatch</a:t>
            </a:r>
            <a:endParaRPr lang="en-US" sz="9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3A4863E-A067-0EA3-6F48-D3A6BE392041}"/>
              </a:ext>
            </a:extLst>
          </p:cNvPr>
          <p:cNvSpPr/>
          <p:nvPr/>
        </p:nvSpPr>
        <p:spPr>
          <a:xfrm>
            <a:off x="3672840" y="4226011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ERP 120 vs scan 65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970A14C-10E3-D8E9-608E-7D5F72139C98}"/>
              </a:ext>
            </a:extLst>
          </p:cNvPr>
          <p:cNvSpPr/>
          <p:nvPr/>
        </p:nvSpPr>
        <p:spPr>
          <a:xfrm>
            <a:off x="7010400" y="4226011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64545"/>
                </a:solidFill>
              </a:rPr>
              <a:t>26 min</a:t>
            </a:r>
            <a:endParaRPr lang="en-US" sz="9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B912C1E-17A5-FC99-F6C1-54A7941C23D0}"/>
              </a:ext>
            </a:extLst>
          </p:cNvPr>
          <p:cNvSpPr/>
          <p:nvPr/>
        </p:nvSpPr>
        <p:spPr>
          <a:xfrm>
            <a:off x="746760" y="4728931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</a:rPr>
              <a:t>HIGH</a:t>
            </a:r>
            <a:endParaRPr lang="en-US" sz="8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0A3E650-42AC-05ED-3C88-FF32B1DA89E3}"/>
              </a:ext>
            </a:extLst>
          </p:cNvPr>
          <p:cNvSpPr/>
          <p:nvPr/>
        </p:nvSpPr>
        <p:spPr>
          <a:xfrm>
            <a:off x="1661160" y="4728931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3"/>
                </a:solidFill>
              </a:rPr>
              <a:t>R8830</a:t>
            </a:r>
            <a:endParaRPr lang="en-US" sz="95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D36B769-5354-43C2-47A7-6A9BD5A45053}"/>
              </a:ext>
            </a:extLst>
          </p:cNvPr>
          <p:cNvSpPr/>
          <p:nvPr/>
        </p:nvSpPr>
        <p:spPr>
          <a:xfrm>
            <a:off x="2346960" y="4728931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202A"/>
                </a:solidFill>
              </a:rPr>
              <a:t>Replenishment</a:t>
            </a:r>
            <a:endParaRPr lang="en-US" sz="95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D06E04D-95CA-2B13-1514-EE095C572A07}"/>
              </a:ext>
            </a:extLst>
          </p:cNvPr>
          <p:cNvSpPr/>
          <p:nvPr/>
        </p:nvSpPr>
        <p:spPr>
          <a:xfrm>
            <a:off x="3672840" y="4728931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ROP stale + demand spike</a:t>
            </a:r>
            <a:endParaRPr lang="en-US" sz="9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C5601C6-6814-0300-ACCE-473DCF649208}"/>
              </a:ext>
            </a:extLst>
          </p:cNvPr>
          <p:cNvSpPr/>
          <p:nvPr/>
        </p:nvSpPr>
        <p:spPr>
          <a:xfrm>
            <a:off x="7010400" y="4728931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64545"/>
                </a:solidFill>
              </a:rPr>
              <a:t>41 min</a:t>
            </a:r>
            <a:endParaRPr lang="en-US" sz="9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49FE762-3021-79F3-C056-957009394081}"/>
              </a:ext>
            </a:extLst>
          </p:cNvPr>
          <p:cNvSpPr/>
          <p:nvPr/>
        </p:nvSpPr>
        <p:spPr>
          <a:xfrm>
            <a:off x="746760" y="5231851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</a:rPr>
              <a:t>MEDIUM</a:t>
            </a:r>
            <a:endParaRPr lang="en-US" sz="8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9447F13-9BC7-60A6-AAAD-954E2952342A}"/>
              </a:ext>
            </a:extLst>
          </p:cNvPr>
          <p:cNvSpPr/>
          <p:nvPr/>
        </p:nvSpPr>
        <p:spPr>
          <a:xfrm>
            <a:off x="1661160" y="5231851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3"/>
                </a:solidFill>
              </a:rPr>
              <a:t>D1028</a:t>
            </a:r>
            <a:endParaRPr lang="en-US" sz="9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28CE7047-B5E8-0181-247B-76191E89AF48}"/>
              </a:ext>
            </a:extLst>
          </p:cNvPr>
          <p:cNvSpPr/>
          <p:nvPr/>
        </p:nvSpPr>
        <p:spPr>
          <a:xfrm>
            <a:off x="2346960" y="5231851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202A"/>
                </a:solidFill>
              </a:rPr>
              <a:t>Dispatch delay</a:t>
            </a:r>
            <a:endParaRPr lang="en-US" sz="95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0B9F037-9CC5-D5BD-DC94-B591B2973C31}"/>
              </a:ext>
            </a:extLst>
          </p:cNvPr>
          <p:cNvSpPr/>
          <p:nvPr/>
        </p:nvSpPr>
        <p:spPr>
          <a:xfrm>
            <a:off x="3672840" y="5231851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Picking event missing</a:t>
            </a:r>
            <a:endParaRPr lang="en-US" sz="9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8D42041A-B3D7-B846-7849-967E4420AABD}"/>
              </a:ext>
            </a:extLst>
          </p:cNvPr>
          <p:cNvSpPr/>
          <p:nvPr/>
        </p:nvSpPr>
        <p:spPr>
          <a:xfrm>
            <a:off x="7010400" y="5231851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64545"/>
                </a:solidFill>
              </a:rPr>
              <a:t>1h 12m</a:t>
            </a:r>
            <a:endParaRPr lang="en-US" sz="9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E773290E-C664-FF5B-86BD-3DD65F6D4663}"/>
              </a:ext>
            </a:extLst>
          </p:cNvPr>
          <p:cNvSpPr/>
          <p:nvPr/>
        </p:nvSpPr>
        <p:spPr>
          <a:xfrm>
            <a:off x="8564880" y="3083011"/>
            <a:ext cx="3154680" cy="2834640"/>
          </a:xfrm>
          <a:prstGeom prst="roundRect">
            <a:avLst>
              <a:gd name="adj" fmla="val 1613"/>
            </a:avLst>
          </a:prstGeom>
          <a:solidFill>
            <a:srgbClr val="EFF6FF"/>
          </a:solidFill>
          <a:ln w="12700">
            <a:solidFill>
              <a:srgbClr val="BBD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79002014-B95B-65BF-A8C9-A4313CC07300}"/>
              </a:ext>
            </a:extLst>
          </p:cNvPr>
          <p:cNvSpPr/>
          <p:nvPr/>
        </p:nvSpPr>
        <p:spPr>
          <a:xfrm>
            <a:off x="8839200" y="3311611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AI incident brief</a:t>
            </a:r>
            <a:endParaRPr lang="en-US" sz="14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6202F37-31E7-6E52-C236-2FD4182F705F}"/>
              </a:ext>
            </a:extLst>
          </p:cNvPr>
          <p:cNvSpPr/>
          <p:nvPr/>
        </p:nvSpPr>
        <p:spPr>
          <a:xfrm>
            <a:off x="8839200" y="3750523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</a:rPr>
              <a:t>Why critical?</a:t>
            </a:r>
            <a:endParaRPr lang="en-US" sz="9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B1B3DCE4-62BD-C20D-4A55-F64FDF904D40}"/>
              </a:ext>
            </a:extLst>
          </p:cNvPr>
          <p:cNvSpPr/>
          <p:nvPr/>
        </p:nvSpPr>
        <p:spPr>
          <a:xfrm>
            <a:off x="8839200" y="3951691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202A"/>
                </a:solidFill>
              </a:rPr>
              <a:t>P-441 dimensions differ between master and warehouse records. D1023 is already assigned to a lane that rejects the current package profile.</a:t>
            </a:r>
            <a:endParaRPr lang="en-US" sz="105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87A40F09-5C9E-B95D-F452-893E66170650}"/>
              </a:ext>
            </a:extLst>
          </p:cNvPr>
          <p:cNvSpPr/>
          <p:nvPr/>
        </p:nvSpPr>
        <p:spPr>
          <a:xfrm>
            <a:off x="8839200" y="4866091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</a:rPr>
              <a:t>Suggested action</a:t>
            </a:r>
            <a:endParaRPr lang="en-US" sz="9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7EF6FDCD-C880-775F-E34C-BF3CC41B2EA5}"/>
              </a:ext>
            </a:extLst>
          </p:cNvPr>
          <p:cNvSpPr/>
          <p:nvPr/>
        </p:nvSpPr>
        <p:spPr>
          <a:xfrm>
            <a:off x="8839200" y="5067259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</a:rPr>
              <a:t>Hold shipment → verify master record → re-plan lane.</a:t>
            </a:r>
            <a:endParaRPr lang="en-US" sz="10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86ACBE0E-844A-EF73-19E6-C748D31356C0}"/>
              </a:ext>
            </a:extLst>
          </p:cNvPr>
          <p:cNvSpPr/>
          <p:nvPr/>
        </p:nvSpPr>
        <p:spPr>
          <a:xfrm>
            <a:off x="8839200" y="5597611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5C083B37-F7E4-CF1A-51B3-DE5D454098A3}"/>
              </a:ext>
            </a:extLst>
          </p:cNvPr>
          <p:cNvSpPr/>
          <p:nvPr/>
        </p:nvSpPr>
        <p:spPr>
          <a:xfrm>
            <a:off x="8839200" y="5643331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APPROVE</a:t>
            </a:r>
            <a:endParaRPr lang="en-US" sz="75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EFB88FC8-D090-2A61-1941-EEB7E2477FA6}"/>
              </a:ext>
            </a:extLst>
          </p:cNvPr>
          <p:cNvSpPr/>
          <p:nvPr/>
        </p:nvSpPr>
        <p:spPr>
          <a:xfrm>
            <a:off x="10073640" y="5597611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FC997FF1-C4EC-0DCF-CB26-A9E9AACE93ED}"/>
              </a:ext>
            </a:extLst>
          </p:cNvPr>
          <p:cNvSpPr/>
          <p:nvPr/>
        </p:nvSpPr>
        <p:spPr>
          <a:xfrm>
            <a:off x="10073640" y="5643331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64545"/>
                </a:solidFill>
              </a:rPr>
              <a:t>REJECT</a:t>
            </a:r>
            <a:endParaRPr lang="en-US" sz="750" dirty="0"/>
          </a:p>
        </p:txBody>
      </p:sp>
      <p:sp>
        <p:nvSpPr>
          <p:cNvPr id="48" name="Slide Number Placeholder 0">
            <a:extLst>
              <a:ext uri="{FF2B5EF4-FFF2-40B4-BE49-F238E27FC236}">
                <a16:creationId xmlns:a16="http://schemas.microsoft.com/office/drawing/2014/main" id="{1D4F5ABC-17CA-45EE-FA18-A389D24AE0FF}"/>
              </a:ext>
            </a:extLst>
          </p:cNvPr>
          <p:cNvSpPr txBox="1">
            <a:spLocks/>
          </p:cNvSpPr>
          <p:nvPr/>
        </p:nvSpPr>
        <p:spPr>
          <a:xfrm>
            <a:off x="11765280" y="7014931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rgbClr val="6B728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3977EFC-182D-5339-9064-3CE737918ACB}"/>
                  </a:ext>
                </a:extLst>
              </p14:cNvPr>
              <p14:cNvContentPartPr/>
              <p14:nvPr/>
            </p14:nvContentPartPr>
            <p14:xfrm>
              <a:off x="8514574" y="2260781"/>
              <a:ext cx="360" cy="3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3977EFC-182D-5339-9064-3CE737918A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08454" y="225466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9476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E05114-FA6A-17C8-3FA4-08403BC6B921}"/>
              </a:ext>
            </a:extLst>
          </p:cNvPr>
          <p:cNvSpPr/>
          <p:nvPr/>
        </p:nvSpPr>
        <p:spPr>
          <a:xfrm>
            <a:off x="0" y="627017"/>
            <a:ext cx="12192000" cy="6858000"/>
          </a:xfrm>
          <a:prstGeom prst="rect">
            <a:avLst/>
          </a:prstGeom>
          <a:solidFill>
            <a:srgbClr val="085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F8E43B-901D-288B-F6A7-3ACA2073AA98}"/>
              </a:ext>
            </a:extLst>
          </p:cNvPr>
          <p:cNvSpPr txBox="1"/>
          <p:nvPr/>
        </p:nvSpPr>
        <p:spPr>
          <a:xfrm>
            <a:off x="411480" y="837329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F5FAF8"/>
                </a:solidFill>
                <a:latin typeface="Aptos Display"/>
              </a:defRPr>
            </a:pPr>
            <a:r>
              <a:rPr dirty="0"/>
              <a:t>User Journey &amp; Personas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A57491-1AAC-9074-144F-32D745D24325}"/>
              </a:ext>
            </a:extLst>
          </p:cNvPr>
          <p:cNvSpPr/>
          <p:nvPr/>
        </p:nvSpPr>
        <p:spPr>
          <a:xfrm>
            <a:off x="411480" y="1349393"/>
            <a:ext cx="960120" cy="32004"/>
          </a:xfrm>
          <a:prstGeom prst="rect">
            <a:avLst/>
          </a:prstGeom>
          <a:solidFill>
            <a:srgbClr val="BBE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EBB7F5-542F-B496-03B5-DFE3820534DB}"/>
              </a:ext>
            </a:extLst>
          </p:cNvPr>
          <p:cNvSpPr txBox="1"/>
          <p:nvPr/>
        </p:nvSpPr>
        <p:spPr>
          <a:xfrm>
            <a:off x="3666744" y="958378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1D6D1"/>
                </a:solidFill>
                <a:latin typeface="Aptos"/>
              </a:defRPr>
            </a:pPr>
            <a:r>
              <a:t>From anomaly to approved resolution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BF343D-382D-199C-2B98-89F4C6E6DFD0}"/>
              </a:ext>
            </a:extLst>
          </p:cNvPr>
          <p:cNvSpPr txBox="1"/>
          <p:nvPr/>
        </p:nvSpPr>
        <p:spPr>
          <a:xfrm>
            <a:off x="411480" y="719240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B1D6D1"/>
                </a:solidFill>
              </a:defRPr>
            </a:pPr>
            <a:r>
              <a:t>INTERNAL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4E3108-3278-0243-94DA-577026821677}"/>
              </a:ext>
            </a:extLst>
          </p:cNvPr>
          <p:cNvSpPr txBox="1"/>
          <p:nvPr/>
        </p:nvSpPr>
        <p:spPr>
          <a:xfrm>
            <a:off x="457200" y="1541417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BBEA42"/>
                </a:solidFill>
                <a:latin typeface="Aptos"/>
              </a:defRPr>
            </a:pPr>
            <a:r>
              <a:t>PRIMARY PERSONAS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9D9D465-0997-DD6E-79D1-7477D5724120}"/>
              </a:ext>
            </a:extLst>
          </p:cNvPr>
          <p:cNvSpPr/>
          <p:nvPr/>
        </p:nvSpPr>
        <p:spPr>
          <a:xfrm>
            <a:off x="502920" y="1861457"/>
            <a:ext cx="3566160" cy="749808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F4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0">
                <a:solidFill>
                  <a:srgbClr val="F5FAF8"/>
                </a:solidFill>
                <a:latin typeface="Aptos"/>
              </a:defRPr>
            </a:pPr>
            <a:r>
              <a:rPr dirty="0"/>
              <a:t>Warehouse Operator</a:t>
            </a:r>
            <a:br>
              <a:rPr dirty="0"/>
            </a:br>
            <a:r>
              <a:rPr dirty="0"/>
              <a:t>Monitors incidents and takes corrective action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D292A09-A339-79E0-9861-186C02A28BCA}"/>
              </a:ext>
            </a:extLst>
          </p:cNvPr>
          <p:cNvSpPr/>
          <p:nvPr/>
        </p:nvSpPr>
        <p:spPr>
          <a:xfrm>
            <a:off x="502920" y="2821577"/>
            <a:ext cx="3566160" cy="749808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69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0">
                <a:solidFill>
                  <a:srgbClr val="F5FAF8"/>
                </a:solidFill>
                <a:latin typeface="Aptos"/>
              </a:defRPr>
            </a:pPr>
            <a:r>
              <a:t>Inventory Planner</a:t>
            </a:r>
            <a:br/>
            <a:r>
              <a:t>Tracks stock accuracy and replenishment risk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367EDC5-D728-3041-84E0-CCCAA9E92CEE}"/>
              </a:ext>
            </a:extLst>
          </p:cNvPr>
          <p:cNvSpPr/>
          <p:nvPr/>
        </p:nvSpPr>
        <p:spPr>
          <a:xfrm>
            <a:off x="502920" y="3781697"/>
            <a:ext cx="3566160" cy="749808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F9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0">
                <a:solidFill>
                  <a:srgbClr val="F5FAF8"/>
                </a:solidFill>
                <a:latin typeface="Aptos"/>
              </a:defRPr>
            </a:pPr>
            <a:r>
              <a:t>Plant Supervisor</a:t>
            </a:r>
            <a:br/>
            <a:r>
              <a:t>Approves high-impact corrective actions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8F5B6D-499C-5EDB-0593-A1663DCDE554}"/>
              </a:ext>
            </a:extLst>
          </p:cNvPr>
          <p:cNvSpPr txBox="1"/>
          <p:nvPr/>
        </p:nvSpPr>
        <p:spPr>
          <a:xfrm>
            <a:off x="4434840" y="1541417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BBEA42"/>
                </a:solidFill>
                <a:latin typeface="Aptos"/>
              </a:defRPr>
            </a:pPr>
            <a:r>
              <a:t>USER JOURNEY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E75463-6041-12AA-F6C8-95346DA73CAA}"/>
              </a:ext>
            </a:extLst>
          </p:cNvPr>
          <p:cNvSpPr/>
          <p:nvPr/>
        </p:nvSpPr>
        <p:spPr>
          <a:xfrm>
            <a:off x="4526280" y="1861457"/>
            <a:ext cx="384048" cy="384048"/>
          </a:xfrm>
          <a:prstGeom prst="ellipse">
            <a:avLst/>
          </a:prstGeom>
          <a:solidFill>
            <a:srgbClr val="BBE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534E"/>
                </a:solidFill>
              </a:defRPr>
            </a:pPr>
            <a: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1BE185-89F7-CB9C-9F03-720F6B5F2211}"/>
              </a:ext>
            </a:extLst>
          </p:cNvPr>
          <p:cNvSpPr txBox="1"/>
          <p:nvPr/>
        </p:nvSpPr>
        <p:spPr>
          <a:xfrm>
            <a:off x="4983480" y="1843169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FAF8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25E619-0121-03C0-8712-1B12362D71A6}"/>
              </a:ext>
            </a:extLst>
          </p:cNvPr>
          <p:cNvSpPr txBox="1"/>
          <p:nvPr/>
        </p:nvSpPr>
        <p:spPr>
          <a:xfrm>
            <a:off x="4983480" y="2117489"/>
            <a:ext cx="7132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B1D6D1"/>
                </a:solidFill>
                <a:latin typeface="Aptos"/>
              </a:defRPr>
            </a:pPr>
            <a:r>
              <a:t>Issue appears in a source system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B58D808-FCB5-5351-0E01-3E741C9049E7}"/>
              </a:ext>
            </a:extLst>
          </p:cNvPr>
          <p:cNvSpPr/>
          <p:nvPr/>
        </p:nvSpPr>
        <p:spPr>
          <a:xfrm>
            <a:off x="5760720" y="1861457"/>
            <a:ext cx="384048" cy="384048"/>
          </a:xfrm>
          <a:prstGeom prst="ellipse">
            <a:avLst/>
          </a:prstGeom>
          <a:solidFill>
            <a:srgbClr val="BBE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534E"/>
                </a:solidFill>
              </a:defRPr>
            </a:pPr>
            <a: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64C1F9-D0C2-1B9D-690B-A44C1013C24F}"/>
              </a:ext>
            </a:extLst>
          </p:cNvPr>
          <p:cNvSpPr txBox="1"/>
          <p:nvPr/>
        </p:nvSpPr>
        <p:spPr>
          <a:xfrm>
            <a:off x="6217920" y="1843169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FAF8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7B5024-D3D0-E869-EEC3-D29C95258F93}"/>
              </a:ext>
            </a:extLst>
          </p:cNvPr>
          <p:cNvSpPr txBox="1"/>
          <p:nvPr/>
        </p:nvSpPr>
        <p:spPr>
          <a:xfrm>
            <a:off x="6217920" y="2117489"/>
            <a:ext cx="7132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B1D6D1"/>
                </a:solidFill>
                <a:latin typeface="Aptos"/>
              </a:defRPr>
            </a:pPr>
            <a:r>
              <a:t>AI connects related anomalies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E6B4A85-3A1B-DD2E-B4FF-932C5B4D714A}"/>
              </a:ext>
            </a:extLst>
          </p:cNvPr>
          <p:cNvSpPr/>
          <p:nvPr/>
        </p:nvSpPr>
        <p:spPr>
          <a:xfrm>
            <a:off x="6995160" y="1861457"/>
            <a:ext cx="384048" cy="384048"/>
          </a:xfrm>
          <a:prstGeom prst="ellipse">
            <a:avLst/>
          </a:prstGeom>
          <a:solidFill>
            <a:srgbClr val="BBE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534E"/>
                </a:solidFill>
              </a:defRPr>
            </a:pPr>
            <a: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5EB7D9-E54D-3B0D-FE62-4465381519CA}"/>
              </a:ext>
            </a:extLst>
          </p:cNvPr>
          <p:cNvSpPr txBox="1"/>
          <p:nvPr/>
        </p:nvSpPr>
        <p:spPr>
          <a:xfrm>
            <a:off x="7452360" y="1843169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FAF8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9ADF96-84FF-C7B6-D9E6-2BF4DB8E256F}"/>
              </a:ext>
            </a:extLst>
          </p:cNvPr>
          <p:cNvSpPr txBox="1"/>
          <p:nvPr/>
        </p:nvSpPr>
        <p:spPr>
          <a:xfrm>
            <a:off x="7452360" y="2117489"/>
            <a:ext cx="7132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B1D6D1"/>
                </a:solidFill>
                <a:latin typeface="Aptos"/>
              </a:defRPr>
            </a:pPr>
            <a:r>
              <a:t>Impact and urgency are scored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4E54D44-AAFA-67C7-DD6B-9544D8EF0EB7}"/>
              </a:ext>
            </a:extLst>
          </p:cNvPr>
          <p:cNvSpPr/>
          <p:nvPr/>
        </p:nvSpPr>
        <p:spPr>
          <a:xfrm>
            <a:off x="4526280" y="3370217"/>
            <a:ext cx="384048" cy="384048"/>
          </a:xfrm>
          <a:prstGeom prst="ellipse">
            <a:avLst/>
          </a:prstGeom>
          <a:solidFill>
            <a:srgbClr val="BBE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534E"/>
                </a:solidFill>
              </a:defRPr>
            </a:pPr>
            <a: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B63860-F9EB-C930-2551-6999B4537443}"/>
              </a:ext>
            </a:extLst>
          </p:cNvPr>
          <p:cNvSpPr txBox="1"/>
          <p:nvPr/>
        </p:nvSpPr>
        <p:spPr>
          <a:xfrm>
            <a:off x="4983480" y="3351929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FAF8"/>
                </a:solidFill>
                <a:latin typeface="Aptos"/>
              </a:defRPr>
            </a:pPr>
            <a:r>
              <a:t>Recommend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420A70-3276-62AA-7401-926FB595C5A7}"/>
              </a:ext>
            </a:extLst>
          </p:cNvPr>
          <p:cNvSpPr txBox="1"/>
          <p:nvPr/>
        </p:nvSpPr>
        <p:spPr>
          <a:xfrm>
            <a:off x="4983480" y="3626249"/>
            <a:ext cx="7132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B1D6D1"/>
                </a:solidFill>
                <a:latin typeface="Aptos"/>
              </a:defRPr>
            </a:pPr>
            <a:r>
              <a:rPr dirty="0"/>
              <a:t>Resolution Agent proposes action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CE2D52F-C314-0B2A-03BD-A7FD5C75A8B8}"/>
              </a:ext>
            </a:extLst>
          </p:cNvPr>
          <p:cNvSpPr/>
          <p:nvPr/>
        </p:nvSpPr>
        <p:spPr>
          <a:xfrm>
            <a:off x="5760720" y="3370217"/>
            <a:ext cx="384048" cy="384048"/>
          </a:xfrm>
          <a:prstGeom prst="ellipse">
            <a:avLst/>
          </a:prstGeom>
          <a:solidFill>
            <a:srgbClr val="BBE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534E"/>
                </a:solidFill>
              </a:defRPr>
            </a:pPr>
            <a: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FCFD40-0315-8EFC-3E1B-4CA6D385007D}"/>
              </a:ext>
            </a:extLst>
          </p:cNvPr>
          <p:cNvSpPr txBox="1"/>
          <p:nvPr/>
        </p:nvSpPr>
        <p:spPr>
          <a:xfrm>
            <a:off x="6217920" y="3351929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FAF8"/>
                </a:solidFill>
                <a:latin typeface="Aptos"/>
              </a:defRPr>
            </a:pPr>
            <a:r>
              <a:t>Approve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C3DC09-4325-B802-2FD9-0C1A19C5BDDD}"/>
              </a:ext>
            </a:extLst>
          </p:cNvPr>
          <p:cNvSpPr txBox="1"/>
          <p:nvPr/>
        </p:nvSpPr>
        <p:spPr>
          <a:xfrm>
            <a:off x="6217920" y="3626249"/>
            <a:ext cx="7132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B1D6D1"/>
                </a:solidFill>
                <a:latin typeface="Aptos"/>
              </a:defRPr>
            </a:pPr>
            <a:r>
              <a:t>Human reviews and approves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F966F4A-75D7-A60E-8313-6EEA0AF73C8C}"/>
              </a:ext>
            </a:extLst>
          </p:cNvPr>
          <p:cNvSpPr/>
          <p:nvPr/>
        </p:nvSpPr>
        <p:spPr>
          <a:xfrm>
            <a:off x="6995160" y="3370217"/>
            <a:ext cx="384048" cy="384048"/>
          </a:xfrm>
          <a:prstGeom prst="ellipse">
            <a:avLst/>
          </a:prstGeom>
          <a:solidFill>
            <a:srgbClr val="BBE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534E"/>
                </a:solidFill>
              </a:defRPr>
            </a:pPr>
            <a:r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43B3C0-883E-49D7-307D-E1C6A73AAAB2}"/>
              </a:ext>
            </a:extLst>
          </p:cNvPr>
          <p:cNvSpPr txBox="1"/>
          <p:nvPr/>
        </p:nvSpPr>
        <p:spPr>
          <a:xfrm>
            <a:off x="7452360" y="3351929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FAF8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113942-D346-772D-A84F-CF65EA3BC4B8}"/>
              </a:ext>
            </a:extLst>
          </p:cNvPr>
          <p:cNvSpPr txBox="1"/>
          <p:nvPr/>
        </p:nvSpPr>
        <p:spPr>
          <a:xfrm>
            <a:off x="7452360" y="3626249"/>
            <a:ext cx="7132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B1D6D1"/>
                </a:solidFill>
                <a:latin typeface="Aptos"/>
              </a:defRPr>
            </a:pPr>
            <a:r>
              <a:t>Outcome + audit trail retained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5E4844-780B-2BEF-6B5E-9B7C86ABD112}"/>
              </a:ext>
            </a:extLst>
          </p:cNvPr>
          <p:cNvSpPr txBox="1"/>
          <p:nvPr/>
        </p:nvSpPr>
        <p:spPr>
          <a:xfrm>
            <a:off x="502920" y="5016137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BBEA42"/>
                </a:solidFill>
                <a:latin typeface="Aptos"/>
              </a:defRPr>
            </a:pPr>
            <a:r>
              <a:t>SELECTION POV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964B20-8E85-4F86-BB99-0B09FF629CE0}"/>
              </a:ext>
            </a:extLst>
          </p:cNvPr>
          <p:cNvSpPr txBox="1"/>
          <p:nvPr/>
        </p:nvSpPr>
        <p:spPr>
          <a:xfrm>
            <a:off x="502920" y="5272169"/>
            <a:ext cx="7818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AF8"/>
                </a:solidFill>
                <a:latin typeface="Aptos"/>
              </a:defRPr>
            </a:pPr>
            <a:r>
              <a:t>Shows judges that the product is designed around real warehouse roles and a clear human-in-the-loop decision journey—not only around technology.</a:t>
            </a:r>
          </a:p>
        </p:txBody>
      </p:sp>
    </p:spTree>
    <p:extLst>
      <p:ext uri="{BB962C8B-B14F-4D97-AF65-F5344CB8AC3E}">
        <p14:creationId xmlns:p14="http://schemas.microsoft.com/office/powerpoint/2010/main" val="1756251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DCCFA1-1C07-393B-10FF-E1CA15BB9D0C}"/>
              </a:ext>
            </a:extLst>
          </p:cNvPr>
          <p:cNvSpPr/>
          <p:nvPr/>
        </p:nvSpPr>
        <p:spPr>
          <a:xfrm>
            <a:off x="0" y="661852"/>
            <a:ext cx="12192000" cy="6858000"/>
          </a:xfrm>
          <a:prstGeom prst="rect">
            <a:avLst/>
          </a:prstGeom>
          <a:solidFill>
            <a:srgbClr val="085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2DBE9E-646C-7F2E-338A-0BE5B79DF899}"/>
              </a:ext>
            </a:extLst>
          </p:cNvPr>
          <p:cNvSpPr txBox="1"/>
          <p:nvPr/>
        </p:nvSpPr>
        <p:spPr>
          <a:xfrm>
            <a:off x="411480" y="872164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F5FAF8"/>
                </a:solidFill>
                <a:latin typeface="Aptos Display"/>
              </a:defRPr>
            </a:pPr>
            <a:r>
              <a:t>Product Blueprint /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273CDC-5F92-181C-B57B-3D0CA890A7F4}"/>
              </a:ext>
            </a:extLst>
          </p:cNvPr>
          <p:cNvSpPr/>
          <p:nvPr/>
        </p:nvSpPr>
        <p:spPr>
          <a:xfrm>
            <a:off x="411480" y="1384228"/>
            <a:ext cx="960120" cy="32004"/>
          </a:xfrm>
          <a:prstGeom prst="rect">
            <a:avLst/>
          </a:prstGeom>
          <a:solidFill>
            <a:srgbClr val="BBE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9792B8-0510-0B09-FD93-F5BF4C649ECE}"/>
              </a:ext>
            </a:extLst>
          </p:cNvPr>
          <p:cNvSpPr txBox="1"/>
          <p:nvPr/>
        </p:nvSpPr>
        <p:spPr>
          <a:xfrm>
            <a:off x="4299422" y="977319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1D6D1"/>
                </a:solidFill>
                <a:latin typeface="Aptos"/>
              </a:defRPr>
            </a:pPr>
            <a:r>
              <a:rPr dirty="0"/>
              <a:t>The control layer sits across existing enterprise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62A88E-3D5B-7B01-C69B-14A0C542E974}"/>
              </a:ext>
            </a:extLst>
          </p:cNvPr>
          <p:cNvSpPr txBox="1"/>
          <p:nvPr/>
        </p:nvSpPr>
        <p:spPr>
          <a:xfrm>
            <a:off x="411480" y="7227244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B1D6D1"/>
                </a:solidFill>
              </a:defRPr>
            </a:pPr>
            <a:r>
              <a:t>INTERNAL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35B9518-0895-A006-9F97-C5D5AB63C258}"/>
              </a:ext>
            </a:extLst>
          </p:cNvPr>
          <p:cNvSpPr/>
          <p:nvPr/>
        </p:nvSpPr>
        <p:spPr>
          <a:xfrm>
            <a:off x="502920" y="1685980"/>
            <a:ext cx="1051560" cy="566928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35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8"/>
                </a:solidFill>
                <a:latin typeface="Aptos"/>
              </a:defRPr>
            </a:pPr>
            <a:r>
              <a:t>ERP /</a:t>
            </a:r>
            <a:br/>
            <a:r>
              <a:t>Master Data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AB81DDE-511E-C0AA-124B-4C82F2BAA57A}"/>
              </a:ext>
            </a:extLst>
          </p:cNvPr>
          <p:cNvSpPr/>
          <p:nvPr/>
        </p:nvSpPr>
        <p:spPr>
          <a:xfrm>
            <a:off x="1828800" y="1685980"/>
            <a:ext cx="1051560" cy="566928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35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8"/>
                </a:solidFill>
                <a:latin typeface="Aptos"/>
              </a:defRPr>
            </a:pPr>
            <a:r>
              <a:t>WMS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F221A8F-B5DF-2BEB-74D7-905D0237C87A}"/>
              </a:ext>
            </a:extLst>
          </p:cNvPr>
          <p:cNvSpPr/>
          <p:nvPr/>
        </p:nvSpPr>
        <p:spPr>
          <a:xfrm>
            <a:off x="2926080" y="1685980"/>
            <a:ext cx="1051560" cy="566928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35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8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3A1377A-4BCD-CF2C-5BFC-4EE89C2CA645}"/>
              </a:ext>
            </a:extLst>
          </p:cNvPr>
          <p:cNvSpPr/>
          <p:nvPr/>
        </p:nvSpPr>
        <p:spPr>
          <a:xfrm>
            <a:off x="4023360" y="1685980"/>
            <a:ext cx="1051560" cy="566928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35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8"/>
                </a:solidFill>
                <a:latin typeface="Aptos"/>
              </a:defRPr>
            </a:pPr>
            <a:r>
              <a:t>Planning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F6A3B61-BD65-E5C2-D29D-142B273DBD43}"/>
              </a:ext>
            </a:extLst>
          </p:cNvPr>
          <p:cNvSpPr/>
          <p:nvPr/>
        </p:nvSpPr>
        <p:spPr>
          <a:xfrm>
            <a:off x="5257800" y="1685980"/>
            <a:ext cx="1051560" cy="566928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35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8"/>
                </a:solidFill>
                <a:latin typeface="Aptos"/>
              </a:defRPr>
            </a:pPr>
            <a:r>
              <a:t>Dispatch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283D7214-C85C-45E7-DD47-012FA63D6A35}"/>
              </a:ext>
            </a:extLst>
          </p:cNvPr>
          <p:cNvCxnSpPr/>
          <p:nvPr/>
        </p:nvCxnSpPr>
        <p:spPr>
          <a:xfrm>
            <a:off x="1024128" y="2252908"/>
            <a:ext cx="2724911" cy="283463"/>
          </a:xfrm>
          <a:prstGeom prst="line">
            <a:avLst/>
          </a:prstGeom>
          <a:ln w="1778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59B90EA0-1ECF-841F-FE05-6ED3631CE1BA}"/>
              </a:ext>
            </a:extLst>
          </p:cNvPr>
          <p:cNvCxnSpPr/>
          <p:nvPr/>
        </p:nvCxnSpPr>
        <p:spPr>
          <a:xfrm>
            <a:off x="2350008" y="2252908"/>
            <a:ext cx="1399031" cy="283463"/>
          </a:xfrm>
          <a:prstGeom prst="line">
            <a:avLst/>
          </a:prstGeom>
          <a:ln w="1778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4EA282AD-1018-1973-6F44-7A8FE6503D77}"/>
              </a:ext>
            </a:extLst>
          </p:cNvPr>
          <p:cNvCxnSpPr/>
          <p:nvPr/>
        </p:nvCxnSpPr>
        <p:spPr>
          <a:xfrm>
            <a:off x="3447288" y="2252908"/>
            <a:ext cx="301751" cy="283463"/>
          </a:xfrm>
          <a:prstGeom prst="line">
            <a:avLst/>
          </a:prstGeom>
          <a:ln w="1778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8926160E-1DDE-8DC8-2976-2CC11BA05738}"/>
              </a:ext>
            </a:extLst>
          </p:cNvPr>
          <p:cNvCxnSpPr/>
          <p:nvPr/>
        </p:nvCxnSpPr>
        <p:spPr>
          <a:xfrm flipH="1">
            <a:off x="3749039" y="2252908"/>
            <a:ext cx="795529" cy="283463"/>
          </a:xfrm>
          <a:prstGeom prst="line">
            <a:avLst/>
          </a:prstGeom>
          <a:ln w="1778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555C1BAC-45D7-34F3-0C8C-D928EC15D785}"/>
              </a:ext>
            </a:extLst>
          </p:cNvPr>
          <p:cNvCxnSpPr/>
          <p:nvPr/>
        </p:nvCxnSpPr>
        <p:spPr>
          <a:xfrm flipH="1">
            <a:off x="3749039" y="2252908"/>
            <a:ext cx="2029969" cy="283463"/>
          </a:xfrm>
          <a:prstGeom prst="line">
            <a:avLst/>
          </a:prstGeom>
          <a:ln w="1778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56EEEDA-2F8D-5015-497A-9C44E7124014}"/>
              </a:ext>
            </a:extLst>
          </p:cNvPr>
          <p:cNvSpPr/>
          <p:nvPr/>
        </p:nvSpPr>
        <p:spPr>
          <a:xfrm>
            <a:off x="3063240" y="2490652"/>
            <a:ext cx="1417320" cy="594360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BBE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8"/>
                </a:solidFill>
                <a:latin typeface="Aptos"/>
              </a:defRPr>
            </a:pPr>
            <a:r>
              <a:t>Data Ingestion</a:t>
            </a:r>
            <a:br/>
            <a:r>
              <a:t>/API Layer</a:t>
            </a:r>
          </a:p>
        </p:txBody>
      </p: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DE4546B4-DBEC-19F3-AA4C-CA35DADB45CA}"/>
              </a:ext>
            </a:extLst>
          </p:cNvPr>
          <p:cNvCxnSpPr/>
          <p:nvPr/>
        </p:nvCxnSpPr>
        <p:spPr>
          <a:xfrm>
            <a:off x="3767328" y="3085012"/>
            <a:ext cx="0" cy="292608"/>
          </a:xfrm>
          <a:prstGeom prst="line">
            <a:avLst/>
          </a:prstGeom>
          <a:ln w="1778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7072FB2-5D61-AC11-120F-70DEB22EF7B0}"/>
              </a:ext>
            </a:extLst>
          </p:cNvPr>
          <p:cNvSpPr/>
          <p:nvPr/>
        </p:nvSpPr>
        <p:spPr>
          <a:xfrm>
            <a:off x="2880360" y="3405052"/>
            <a:ext cx="1298448" cy="658368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35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8"/>
                </a:solidFill>
                <a:latin typeface="Aptos"/>
              </a:defRPr>
            </a:pPr>
            <a:r>
              <a:t>Data Validation</a:t>
            </a:r>
            <a:br/>
            <a:r>
              <a:t>Agent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3F05240-5636-9D04-9CD4-06C2B98DA0BD}"/>
              </a:ext>
            </a:extLst>
          </p:cNvPr>
          <p:cNvSpPr/>
          <p:nvPr/>
        </p:nvSpPr>
        <p:spPr>
          <a:xfrm>
            <a:off x="4407408" y="3405052"/>
            <a:ext cx="1298448" cy="658368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69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8"/>
                </a:solidFill>
                <a:latin typeface="Aptos"/>
              </a:defRPr>
            </a:pPr>
            <a:r>
              <a:t>Anomaly &amp;</a:t>
            </a:r>
            <a:br/>
            <a:r>
              <a:t>Correlation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7D9243E-A802-2AA0-65AE-EF1C38F693D1}"/>
              </a:ext>
            </a:extLst>
          </p:cNvPr>
          <p:cNvSpPr/>
          <p:nvPr/>
        </p:nvSpPr>
        <p:spPr>
          <a:xfrm>
            <a:off x="5934456" y="3405052"/>
            <a:ext cx="1298448" cy="658368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F9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8"/>
                </a:solidFill>
                <a:latin typeface="Aptos"/>
              </a:defRPr>
            </a:pPr>
            <a:r>
              <a:t>Root Cause</a:t>
            </a:r>
            <a:br/>
            <a:r>
              <a:t>Agent</a:t>
            </a:r>
          </a:p>
        </p:txBody>
      </p: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240C4AE8-A84F-8E34-8AD1-4F0B8B62357F}"/>
              </a:ext>
            </a:extLst>
          </p:cNvPr>
          <p:cNvCxnSpPr/>
          <p:nvPr/>
        </p:nvCxnSpPr>
        <p:spPr>
          <a:xfrm>
            <a:off x="4297680" y="3725092"/>
            <a:ext cx="73152" cy="0"/>
          </a:xfrm>
          <a:prstGeom prst="line">
            <a:avLst/>
          </a:prstGeom>
          <a:ln w="1778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2DE0EB7E-21B3-6020-FC46-154632931F75}"/>
              </a:ext>
            </a:extLst>
          </p:cNvPr>
          <p:cNvCxnSpPr/>
          <p:nvPr/>
        </p:nvCxnSpPr>
        <p:spPr>
          <a:xfrm>
            <a:off x="5806440" y="3725092"/>
            <a:ext cx="91440" cy="0"/>
          </a:xfrm>
          <a:prstGeom prst="line">
            <a:avLst/>
          </a:prstGeom>
          <a:ln w="1778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93CFFA06-2039-38D9-0286-F574CB548336}"/>
              </a:ext>
            </a:extLst>
          </p:cNvPr>
          <p:cNvCxnSpPr/>
          <p:nvPr/>
        </p:nvCxnSpPr>
        <p:spPr>
          <a:xfrm>
            <a:off x="6583680" y="4063420"/>
            <a:ext cx="0" cy="393192"/>
          </a:xfrm>
          <a:prstGeom prst="line">
            <a:avLst/>
          </a:prstGeom>
          <a:ln w="1778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41A9FA4-AE61-4141-AAF7-8DF584A91AE8}"/>
              </a:ext>
            </a:extLst>
          </p:cNvPr>
          <p:cNvSpPr/>
          <p:nvPr/>
        </p:nvSpPr>
        <p:spPr>
          <a:xfrm>
            <a:off x="5257800" y="4429180"/>
            <a:ext cx="1325880" cy="658368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F5D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8"/>
                </a:solidFill>
                <a:latin typeface="Aptos"/>
              </a:defRPr>
            </a:pPr>
            <a:r>
              <a:t>Impact &amp;</a:t>
            </a:r>
            <a:br/>
            <a:r>
              <a:t>Priority</a:t>
            </a:r>
          </a:p>
        </p:txBody>
      </p: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8144C8BF-EF98-6F61-E1BA-7E2F59392F8A}"/>
              </a:ext>
            </a:extLst>
          </p:cNvPr>
          <p:cNvCxnSpPr/>
          <p:nvPr/>
        </p:nvCxnSpPr>
        <p:spPr>
          <a:xfrm flipH="1">
            <a:off x="3886200" y="4758364"/>
            <a:ext cx="1371600" cy="429768"/>
          </a:xfrm>
          <a:prstGeom prst="line">
            <a:avLst/>
          </a:prstGeom>
          <a:ln w="1778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3ACF26C-8700-B420-C79C-BC67F2D9EE97}"/>
              </a:ext>
            </a:extLst>
          </p:cNvPr>
          <p:cNvSpPr/>
          <p:nvPr/>
        </p:nvSpPr>
        <p:spPr>
          <a:xfrm>
            <a:off x="2743200" y="5069260"/>
            <a:ext cx="1554480" cy="658368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35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8"/>
                </a:solidFill>
                <a:latin typeface="Aptos"/>
              </a:defRPr>
            </a:pPr>
            <a:r>
              <a:t>Resolution</a:t>
            </a:r>
            <a:br/>
            <a:r>
              <a:t>Agent</a:t>
            </a:r>
          </a:p>
        </p:txBody>
      </p:sp>
      <p:cxnSp>
        <p:nvCxnSpPr>
          <p:cNvPr id="28" name="Connector 27">
            <a:extLst>
              <a:ext uri="{FF2B5EF4-FFF2-40B4-BE49-F238E27FC236}">
                <a16:creationId xmlns:a16="http://schemas.microsoft.com/office/drawing/2014/main" id="{EAD121CD-5936-D829-363A-AAB8F737F34D}"/>
              </a:ext>
            </a:extLst>
          </p:cNvPr>
          <p:cNvCxnSpPr/>
          <p:nvPr/>
        </p:nvCxnSpPr>
        <p:spPr>
          <a:xfrm flipH="1">
            <a:off x="1828800" y="5398444"/>
            <a:ext cx="914400" cy="475488"/>
          </a:xfrm>
          <a:prstGeom prst="line">
            <a:avLst/>
          </a:prstGeom>
          <a:ln w="1778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38B6268-3520-8874-00FC-DCB191F219FE}"/>
              </a:ext>
            </a:extLst>
          </p:cNvPr>
          <p:cNvSpPr/>
          <p:nvPr/>
        </p:nvSpPr>
        <p:spPr>
          <a:xfrm>
            <a:off x="594360" y="5764204"/>
            <a:ext cx="1965960" cy="658368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BBE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8"/>
                </a:solidFill>
                <a:latin typeface="Aptos"/>
              </a:defRPr>
            </a:pPr>
            <a:r>
              <a:t>Human Approval</a:t>
            </a:r>
            <a:br/>
            <a:r>
              <a:t>(Approve / Reject)</a:t>
            </a:r>
          </a:p>
        </p:txBody>
      </p:sp>
      <p:cxnSp>
        <p:nvCxnSpPr>
          <p:cNvPr id="30" name="Connector 29">
            <a:extLst>
              <a:ext uri="{FF2B5EF4-FFF2-40B4-BE49-F238E27FC236}">
                <a16:creationId xmlns:a16="http://schemas.microsoft.com/office/drawing/2014/main" id="{FA2075BB-E430-9BD2-0F12-05B4BFB59C1D}"/>
              </a:ext>
            </a:extLst>
          </p:cNvPr>
          <p:cNvCxnSpPr/>
          <p:nvPr/>
        </p:nvCxnSpPr>
        <p:spPr>
          <a:xfrm>
            <a:off x="2560320" y="6093388"/>
            <a:ext cx="1645920" cy="0"/>
          </a:xfrm>
          <a:prstGeom prst="line">
            <a:avLst/>
          </a:prstGeom>
          <a:ln w="1778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C9206A1-84DB-1238-37C2-614E5AA78814}"/>
              </a:ext>
            </a:extLst>
          </p:cNvPr>
          <p:cNvSpPr/>
          <p:nvPr/>
        </p:nvSpPr>
        <p:spPr>
          <a:xfrm>
            <a:off x="4206240" y="5764204"/>
            <a:ext cx="1554480" cy="658368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35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8"/>
                </a:solidFill>
                <a:latin typeface="Aptos"/>
              </a:defRPr>
            </a:pPr>
            <a:r>
              <a:t>Action / Update</a:t>
            </a:r>
          </a:p>
        </p:txBody>
      </p:sp>
      <p:cxnSp>
        <p:nvCxnSpPr>
          <p:cNvPr id="32" name="Connector 31">
            <a:extLst>
              <a:ext uri="{FF2B5EF4-FFF2-40B4-BE49-F238E27FC236}">
                <a16:creationId xmlns:a16="http://schemas.microsoft.com/office/drawing/2014/main" id="{5054D666-35BA-5165-CE9D-EC0DFA1C6640}"/>
              </a:ext>
            </a:extLst>
          </p:cNvPr>
          <p:cNvCxnSpPr/>
          <p:nvPr/>
        </p:nvCxnSpPr>
        <p:spPr>
          <a:xfrm>
            <a:off x="5760720" y="6093388"/>
            <a:ext cx="777240" cy="0"/>
          </a:xfrm>
          <a:prstGeom prst="line">
            <a:avLst/>
          </a:prstGeom>
          <a:ln w="1778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D0CF7F0-F9E8-4BD2-D6ED-76158037BF0D}"/>
              </a:ext>
            </a:extLst>
          </p:cNvPr>
          <p:cNvSpPr/>
          <p:nvPr/>
        </p:nvSpPr>
        <p:spPr>
          <a:xfrm>
            <a:off x="6446520" y="5764204"/>
            <a:ext cx="1463040" cy="658368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F9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8"/>
                </a:solidFill>
                <a:latin typeface="Aptos"/>
              </a:defRPr>
            </a:pPr>
            <a:r>
              <a:t>Audit Trail</a:t>
            </a:r>
          </a:p>
        </p:txBody>
      </p:sp>
    </p:spTree>
    <p:extLst>
      <p:ext uri="{BB962C8B-B14F-4D97-AF65-F5344CB8AC3E}">
        <p14:creationId xmlns:p14="http://schemas.microsoft.com/office/powerpoint/2010/main" val="3948630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061262-4B5F-D27D-9DE6-AAC47ECB4CD4}"/>
              </a:ext>
            </a:extLst>
          </p:cNvPr>
          <p:cNvSpPr/>
          <p:nvPr/>
        </p:nvSpPr>
        <p:spPr>
          <a:xfrm>
            <a:off x="0" y="627018"/>
            <a:ext cx="12192000" cy="6858000"/>
          </a:xfrm>
          <a:prstGeom prst="rect">
            <a:avLst/>
          </a:prstGeom>
          <a:solidFill>
            <a:srgbClr val="085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430F74-CFF4-C1FA-7EDD-55A1D45DEBDB}"/>
              </a:ext>
            </a:extLst>
          </p:cNvPr>
          <p:cNvSpPr txBox="1"/>
          <p:nvPr/>
        </p:nvSpPr>
        <p:spPr>
          <a:xfrm>
            <a:off x="411480" y="83733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F5FAF8"/>
                </a:solidFill>
                <a:latin typeface="Aptos Display"/>
              </a:defRPr>
            </a:pPr>
            <a:r>
              <a:t>Data Flow Diagram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EF454A-96C9-55CB-269D-E50041B0667F}"/>
              </a:ext>
            </a:extLst>
          </p:cNvPr>
          <p:cNvSpPr/>
          <p:nvPr/>
        </p:nvSpPr>
        <p:spPr>
          <a:xfrm>
            <a:off x="411480" y="1349394"/>
            <a:ext cx="960120" cy="32004"/>
          </a:xfrm>
          <a:prstGeom prst="rect">
            <a:avLst/>
          </a:prstGeom>
          <a:solidFill>
            <a:srgbClr val="BBE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75F050-1FF1-FB08-D2DD-20D86409A720}"/>
              </a:ext>
            </a:extLst>
          </p:cNvPr>
          <p:cNvSpPr txBox="1"/>
          <p:nvPr/>
        </p:nvSpPr>
        <p:spPr>
          <a:xfrm>
            <a:off x="3703320" y="969918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1D6D1"/>
                </a:solidFill>
                <a:latin typeface="Aptos"/>
              </a:defRPr>
            </a:pPr>
            <a:r>
              <a:rPr dirty="0"/>
              <a:t>How synthetic warehouse data becomes an actionable incident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B7DAB9-7B2E-B695-270B-C521499E6CD3}"/>
              </a:ext>
            </a:extLst>
          </p:cNvPr>
          <p:cNvSpPr txBox="1"/>
          <p:nvPr/>
        </p:nvSpPr>
        <p:spPr>
          <a:xfrm>
            <a:off x="411480" y="719241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B1D6D1"/>
                </a:solidFill>
              </a:defRPr>
            </a:pPr>
            <a:r>
              <a:t>INTERNAL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7EFF17-3CC6-FD52-04AF-A4A2882F16C0}"/>
              </a:ext>
            </a:extLst>
          </p:cNvPr>
          <p:cNvSpPr txBox="1"/>
          <p:nvPr/>
        </p:nvSpPr>
        <p:spPr>
          <a:xfrm>
            <a:off x="502920" y="154141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BBEA42"/>
                </a:solidFill>
                <a:latin typeface="Aptos"/>
              </a:defRPr>
            </a:pPr>
            <a:r>
              <a:t>Source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8E4D1A-F8CD-42A1-5AAD-9E2A118F5F15}"/>
              </a:ext>
            </a:extLst>
          </p:cNvPr>
          <p:cNvSpPr/>
          <p:nvPr/>
        </p:nvSpPr>
        <p:spPr>
          <a:xfrm>
            <a:off x="502920" y="1861458"/>
            <a:ext cx="1325880" cy="4389120"/>
          </a:xfrm>
          <a:prstGeom prst="rect">
            <a:avLst/>
          </a:prstGeom>
          <a:noFill/>
          <a:ln>
            <a:solidFill>
              <a:srgbClr val="B1D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DD334D-7376-4E0D-E11E-43C3194CBC67}"/>
              </a:ext>
            </a:extLst>
          </p:cNvPr>
          <p:cNvSpPr txBox="1"/>
          <p:nvPr/>
        </p:nvSpPr>
        <p:spPr>
          <a:xfrm>
            <a:off x="2148840" y="154141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BBEA42"/>
                </a:solidFill>
                <a:latin typeface="Aptos"/>
              </a:defRPr>
            </a:pPr>
            <a:r>
              <a:t>AI Agents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3D311A-3914-8257-5A1A-8145324F5F16}"/>
              </a:ext>
            </a:extLst>
          </p:cNvPr>
          <p:cNvSpPr/>
          <p:nvPr/>
        </p:nvSpPr>
        <p:spPr>
          <a:xfrm>
            <a:off x="2148840" y="1861458"/>
            <a:ext cx="1325880" cy="4389120"/>
          </a:xfrm>
          <a:prstGeom prst="rect">
            <a:avLst/>
          </a:prstGeom>
          <a:noFill/>
          <a:ln>
            <a:solidFill>
              <a:srgbClr val="B1D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0A768F-CE3C-E521-9069-98E322B5C21E}"/>
              </a:ext>
            </a:extLst>
          </p:cNvPr>
          <p:cNvSpPr txBox="1"/>
          <p:nvPr/>
        </p:nvSpPr>
        <p:spPr>
          <a:xfrm>
            <a:off x="3886200" y="154141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BBEA42"/>
                </a:solidFill>
                <a:latin typeface="Aptos"/>
              </a:defRPr>
            </a:pPr>
            <a:r>
              <a:t>Decision Layer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A03B8B-1FE0-D5F8-3605-B71C1D5BC24C}"/>
              </a:ext>
            </a:extLst>
          </p:cNvPr>
          <p:cNvSpPr/>
          <p:nvPr/>
        </p:nvSpPr>
        <p:spPr>
          <a:xfrm>
            <a:off x="3886200" y="1861458"/>
            <a:ext cx="1325880" cy="4389120"/>
          </a:xfrm>
          <a:prstGeom prst="rect">
            <a:avLst/>
          </a:prstGeom>
          <a:noFill/>
          <a:ln>
            <a:solidFill>
              <a:srgbClr val="B1D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B9F9E9-D83C-3F1E-1BC0-26FD59545F2C}"/>
              </a:ext>
            </a:extLst>
          </p:cNvPr>
          <p:cNvSpPr txBox="1"/>
          <p:nvPr/>
        </p:nvSpPr>
        <p:spPr>
          <a:xfrm>
            <a:off x="5760720" y="154141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BBEA42"/>
                </a:solidFill>
                <a:latin typeface="Aptos"/>
              </a:defRPr>
            </a:pPr>
            <a:r>
              <a:t>User / Action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2C9B43-2186-532A-447E-DB48DD6AF36C}"/>
              </a:ext>
            </a:extLst>
          </p:cNvPr>
          <p:cNvSpPr/>
          <p:nvPr/>
        </p:nvSpPr>
        <p:spPr>
          <a:xfrm>
            <a:off x="5760720" y="1861458"/>
            <a:ext cx="1325880" cy="4389120"/>
          </a:xfrm>
          <a:prstGeom prst="rect">
            <a:avLst/>
          </a:prstGeom>
          <a:noFill/>
          <a:ln>
            <a:solidFill>
              <a:srgbClr val="B1D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727B433-6C94-0084-93AA-E81E64B7FD5A}"/>
              </a:ext>
            </a:extLst>
          </p:cNvPr>
          <p:cNvSpPr/>
          <p:nvPr/>
        </p:nvSpPr>
        <p:spPr>
          <a:xfrm>
            <a:off x="658368" y="2272938"/>
            <a:ext cx="1005840" cy="566928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35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FAF8"/>
                </a:solidFill>
                <a:latin typeface="Aptos"/>
              </a:defRPr>
            </a:pPr>
            <a:r>
              <a:t>Master</a:t>
            </a:r>
            <a:br/>
            <a:r>
              <a:t>Data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ADF4DC9-D702-BFBF-CFAA-3BF76147BDB5}"/>
              </a:ext>
            </a:extLst>
          </p:cNvPr>
          <p:cNvSpPr/>
          <p:nvPr/>
        </p:nvSpPr>
        <p:spPr>
          <a:xfrm>
            <a:off x="658368" y="3233058"/>
            <a:ext cx="1005840" cy="566928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35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FAF8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D367177-A0B4-5828-9626-B3D5EA8B44E8}"/>
              </a:ext>
            </a:extLst>
          </p:cNvPr>
          <p:cNvSpPr/>
          <p:nvPr/>
        </p:nvSpPr>
        <p:spPr>
          <a:xfrm>
            <a:off x="658368" y="4193178"/>
            <a:ext cx="1005840" cy="566928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35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FAF8"/>
                </a:solidFill>
                <a:latin typeface="Aptos"/>
              </a:defRPr>
            </a:pPr>
            <a:r>
              <a:t>Orders /</a:t>
            </a:r>
            <a:br/>
            <a:r>
              <a:t>Shipments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5B2AF62-FDAE-FBA8-55E0-10FFEB089D44}"/>
              </a:ext>
            </a:extLst>
          </p:cNvPr>
          <p:cNvSpPr/>
          <p:nvPr/>
        </p:nvSpPr>
        <p:spPr>
          <a:xfrm>
            <a:off x="658368" y="5153298"/>
            <a:ext cx="1005840" cy="566928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35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FAF8"/>
                </a:solidFill>
                <a:latin typeface="Aptos"/>
              </a:defRPr>
            </a:pPr>
            <a:r>
              <a:t>Events</a:t>
            </a:r>
          </a:p>
        </p:txBody>
      </p:sp>
      <p:cxnSp>
        <p:nvCxnSpPr>
          <p:cNvPr id="19" name="Connector 18">
            <a:extLst>
              <a:ext uri="{FF2B5EF4-FFF2-40B4-BE49-F238E27FC236}">
                <a16:creationId xmlns:a16="http://schemas.microsoft.com/office/drawing/2014/main" id="{6ED7D01D-CE11-29E6-984E-A49A28D8CC52}"/>
              </a:ext>
            </a:extLst>
          </p:cNvPr>
          <p:cNvCxnSpPr/>
          <p:nvPr/>
        </p:nvCxnSpPr>
        <p:spPr>
          <a:xfrm>
            <a:off x="1664208" y="2565546"/>
            <a:ext cx="667512" cy="0"/>
          </a:xfrm>
          <a:prstGeom prst="line">
            <a:avLst/>
          </a:prstGeom>
          <a:ln w="1778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B0E67609-F88F-5D48-066E-381C06CD7451}"/>
              </a:ext>
            </a:extLst>
          </p:cNvPr>
          <p:cNvCxnSpPr/>
          <p:nvPr/>
        </p:nvCxnSpPr>
        <p:spPr>
          <a:xfrm>
            <a:off x="1664208" y="3525666"/>
            <a:ext cx="667512" cy="0"/>
          </a:xfrm>
          <a:prstGeom prst="line">
            <a:avLst/>
          </a:prstGeom>
          <a:ln w="1778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664F86BA-7372-9BB3-5BB5-F2DCF5667E0C}"/>
              </a:ext>
            </a:extLst>
          </p:cNvPr>
          <p:cNvCxnSpPr/>
          <p:nvPr/>
        </p:nvCxnSpPr>
        <p:spPr>
          <a:xfrm>
            <a:off x="1664208" y="4485786"/>
            <a:ext cx="667512" cy="0"/>
          </a:xfrm>
          <a:prstGeom prst="line">
            <a:avLst/>
          </a:prstGeom>
          <a:ln w="1778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5F50FF7F-CF7A-5323-9FCE-A5B1BCC3DDBD}"/>
              </a:ext>
            </a:extLst>
          </p:cNvPr>
          <p:cNvCxnSpPr/>
          <p:nvPr/>
        </p:nvCxnSpPr>
        <p:spPr>
          <a:xfrm>
            <a:off x="1664208" y="5445906"/>
            <a:ext cx="667512" cy="0"/>
          </a:xfrm>
          <a:prstGeom prst="line">
            <a:avLst/>
          </a:prstGeom>
          <a:ln w="1778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3225BDF-3519-D687-A8D0-A2C56853B6C4}"/>
              </a:ext>
            </a:extLst>
          </p:cNvPr>
          <p:cNvSpPr/>
          <p:nvPr/>
        </p:nvSpPr>
        <p:spPr>
          <a:xfrm>
            <a:off x="2331720" y="2455818"/>
            <a:ext cx="1005840" cy="731520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35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8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A95F475-8322-D1DE-C0B1-1A6D6A2ECF94}"/>
              </a:ext>
            </a:extLst>
          </p:cNvPr>
          <p:cNvSpPr/>
          <p:nvPr/>
        </p:nvSpPr>
        <p:spPr>
          <a:xfrm>
            <a:off x="2331720" y="3553098"/>
            <a:ext cx="1005840" cy="731520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69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8"/>
                </a:solidFill>
                <a:latin typeface="Aptos"/>
              </a:defRPr>
            </a:pPr>
            <a:r>
              <a:t>Correlate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FAE130B-5DEE-1D8B-A420-6255BDFE65C3}"/>
              </a:ext>
            </a:extLst>
          </p:cNvPr>
          <p:cNvSpPr/>
          <p:nvPr/>
        </p:nvSpPr>
        <p:spPr>
          <a:xfrm>
            <a:off x="2331720" y="4650378"/>
            <a:ext cx="1005840" cy="731520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F9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8"/>
                </a:solidFill>
                <a:latin typeface="Aptos"/>
              </a:defRPr>
            </a:pPr>
            <a:r>
              <a:t>Explain</a:t>
            </a:r>
          </a:p>
        </p:txBody>
      </p: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A3C876F4-ED4E-ECD8-3A81-D340CC756FDE}"/>
              </a:ext>
            </a:extLst>
          </p:cNvPr>
          <p:cNvCxnSpPr/>
          <p:nvPr/>
        </p:nvCxnSpPr>
        <p:spPr>
          <a:xfrm>
            <a:off x="3337560" y="2821578"/>
            <a:ext cx="822960" cy="0"/>
          </a:xfrm>
          <a:prstGeom prst="line">
            <a:avLst/>
          </a:prstGeom>
          <a:ln w="1778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10BBB6EB-70E2-E4C2-EDC4-C187E223B9EB}"/>
              </a:ext>
            </a:extLst>
          </p:cNvPr>
          <p:cNvCxnSpPr/>
          <p:nvPr/>
        </p:nvCxnSpPr>
        <p:spPr>
          <a:xfrm>
            <a:off x="3337560" y="3918858"/>
            <a:ext cx="822960" cy="0"/>
          </a:xfrm>
          <a:prstGeom prst="line">
            <a:avLst/>
          </a:prstGeom>
          <a:ln w="1778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>
            <a:extLst>
              <a:ext uri="{FF2B5EF4-FFF2-40B4-BE49-F238E27FC236}">
                <a16:creationId xmlns:a16="http://schemas.microsoft.com/office/drawing/2014/main" id="{5FBE6757-3421-0F0C-3792-8456BBB19D35}"/>
              </a:ext>
            </a:extLst>
          </p:cNvPr>
          <p:cNvCxnSpPr/>
          <p:nvPr/>
        </p:nvCxnSpPr>
        <p:spPr>
          <a:xfrm>
            <a:off x="3337560" y="5016138"/>
            <a:ext cx="822960" cy="0"/>
          </a:xfrm>
          <a:prstGeom prst="line">
            <a:avLst/>
          </a:prstGeom>
          <a:ln w="1778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5054216-9CB1-9056-01D1-3A3276177359}"/>
              </a:ext>
            </a:extLst>
          </p:cNvPr>
          <p:cNvSpPr/>
          <p:nvPr/>
        </p:nvSpPr>
        <p:spPr>
          <a:xfrm>
            <a:off x="4160520" y="2455818"/>
            <a:ext cx="1325880" cy="731520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F4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8"/>
                </a:solidFill>
                <a:latin typeface="Aptos"/>
              </a:defRPr>
            </a:pPr>
            <a:r>
              <a:t>Incident</a:t>
            </a:r>
            <a:br/>
            <a:r>
              <a:t>Created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16A0D2D-423B-6392-D9C7-4C205BB01B50}"/>
              </a:ext>
            </a:extLst>
          </p:cNvPr>
          <p:cNvSpPr/>
          <p:nvPr/>
        </p:nvSpPr>
        <p:spPr>
          <a:xfrm>
            <a:off x="4160520" y="3553098"/>
            <a:ext cx="1325880" cy="731520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F5D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8"/>
                </a:solidFill>
                <a:latin typeface="Aptos"/>
              </a:defRPr>
            </a:pPr>
            <a:r>
              <a:t>Impact &amp;</a:t>
            </a:r>
            <a:br/>
            <a:r>
              <a:t>Priority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B5468622-29AB-71F8-DABA-1178D297E194}"/>
              </a:ext>
            </a:extLst>
          </p:cNvPr>
          <p:cNvSpPr/>
          <p:nvPr/>
        </p:nvSpPr>
        <p:spPr>
          <a:xfrm>
            <a:off x="4160520" y="4650378"/>
            <a:ext cx="1325880" cy="731520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BBE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8"/>
                </a:solidFill>
                <a:latin typeface="Aptos"/>
              </a:defRPr>
            </a:pPr>
            <a:r>
              <a:t>Recommendation</a:t>
            </a:r>
          </a:p>
        </p:txBody>
      </p:sp>
      <p:cxnSp>
        <p:nvCxnSpPr>
          <p:cNvPr id="32" name="Connector 31">
            <a:extLst>
              <a:ext uri="{FF2B5EF4-FFF2-40B4-BE49-F238E27FC236}">
                <a16:creationId xmlns:a16="http://schemas.microsoft.com/office/drawing/2014/main" id="{1E6583D3-DB9E-1A8C-1370-75F737DC9B67}"/>
              </a:ext>
            </a:extLst>
          </p:cNvPr>
          <p:cNvCxnSpPr/>
          <p:nvPr/>
        </p:nvCxnSpPr>
        <p:spPr>
          <a:xfrm>
            <a:off x="5486400" y="2821578"/>
            <a:ext cx="502920" cy="0"/>
          </a:xfrm>
          <a:prstGeom prst="line">
            <a:avLst/>
          </a:prstGeom>
          <a:ln w="1778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7DA73F69-72A9-C63C-B6E2-84F1DDE1806C}"/>
              </a:ext>
            </a:extLst>
          </p:cNvPr>
          <p:cNvCxnSpPr/>
          <p:nvPr/>
        </p:nvCxnSpPr>
        <p:spPr>
          <a:xfrm>
            <a:off x="5486400" y="3918858"/>
            <a:ext cx="502920" cy="0"/>
          </a:xfrm>
          <a:prstGeom prst="line">
            <a:avLst/>
          </a:prstGeom>
          <a:ln w="1778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CDAE4D02-58BB-AB52-2546-CA70F0E0B934}"/>
              </a:ext>
            </a:extLst>
          </p:cNvPr>
          <p:cNvCxnSpPr/>
          <p:nvPr/>
        </p:nvCxnSpPr>
        <p:spPr>
          <a:xfrm>
            <a:off x="5486400" y="5016138"/>
            <a:ext cx="502920" cy="0"/>
          </a:xfrm>
          <a:prstGeom prst="line">
            <a:avLst/>
          </a:prstGeom>
          <a:ln w="1778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05AE01B-DC7D-A0A7-5DB3-71EA259AC873}"/>
              </a:ext>
            </a:extLst>
          </p:cNvPr>
          <p:cNvSpPr/>
          <p:nvPr/>
        </p:nvSpPr>
        <p:spPr>
          <a:xfrm>
            <a:off x="5989320" y="2455818"/>
            <a:ext cx="1234440" cy="731520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35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8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BC3ED1E-8C9A-4B99-A282-5FE26C16E34F}"/>
              </a:ext>
            </a:extLst>
          </p:cNvPr>
          <p:cNvSpPr/>
          <p:nvPr/>
        </p:nvSpPr>
        <p:spPr>
          <a:xfrm>
            <a:off x="5989320" y="3553098"/>
            <a:ext cx="1234440" cy="731520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BBE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8"/>
                </a:solidFill>
                <a:latin typeface="Aptos"/>
              </a:defRPr>
            </a:pPr>
            <a:r>
              <a:t>Approve /</a:t>
            </a:r>
            <a:br/>
            <a:r>
              <a:t>Reject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8966D43-3672-7019-BE7F-05A9FC705002}"/>
              </a:ext>
            </a:extLst>
          </p:cNvPr>
          <p:cNvSpPr/>
          <p:nvPr/>
        </p:nvSpPr>
        <p:spPr>
          <a:xfrm>
            <a:off x="5989320" y="4650378"/>
            <a:ext cx="1234440" cy="731520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F9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8"/>
                </a:solidFill>
                <a:latin typeface="Aptos"/>
              </a:defRPr>
            </a:pPr>
            <a:r>
              <a:t>Execute +</a:t>
            </a:r>
            <a:br/>
            <a:r>
              <a:t>Audit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470D40-665C-DDEC-BBB2-8CBAC5807C21}"/>
              </a:ext>
            </a:extLst>
          </p:cNvPr>
          <p:cNvSpPr txBox="1"/>
          <p:nvPr/>
        </p:nvSpPr>
        <p:spPr>
          <a:xfrm>
            <a:off x="594360" y="625057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1D6D1"/>
                </a:solidFill>
                <a:latin typeface="Aptos"/>
              </a:defRPr>
            </a:pPr>
            <a:r>
              <a:t>Example signal path: stale master-data rule → inventory mismatch → replenishment risk → recommended update → supervisor approval.</a:t>
            </a:r>
          </a:p>
        </p:txBody>
      </p:sp>
    </p:spTree>
    <p:extLst>
      <p:ext uri="{BB962C8B-B14F-4D97-AF65-F5344CB8AC3E}">
        <p14:creationId xmlns:p14="http://schemas.microsoft.com/office/powerpoint/2010/main" val="1161200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1229C5-C0AE-6531-4204-75769EABB6EC}"/>
              </a:ext>
            </a:extLst>
          </p:cNvPr>
          <p:cNvSpPr/>
          <p:nvPr/>
        </p:nvSpPr>
        <p:spPr>
          <a:xfrm>
            <a:off x="0" y="618308"/>
            <a:ext cx="12192000" cy="6858000"/>
          </a:xfrm>
          <a:prstGeom prst="rect">
            <a:avLst/>
          </a:prstGeom>
          <a:solidFill>
            <a:srgbClr val="085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C93C1C-2E34-0727-1E84-ADFC4636F8A2}"/>
              </a:ext>
            </a:extLst>
          </p:cNvPr>
          <p:cNvSpPr txBox="1"/>
          <p:nvPr/>
        </p:nvSpPr>
        <p:spPr>
          <a:xfrm>
            <a:off x="411480" y="8286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F5FAF8"/>
                </a:solidFill>
                <a:latin typeface="Aptos Display"/>
              </a:defRPr>
            </a:pPr>
            <a:r>
              <a:t>Sequence Diagram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C59832-1038-34EF-1B25-98956BB8470F}"/>
              </a:ext>
            </a:extLst>
          </p:cNvPr>
          <p:cNvSpPr/>
          <p:nvPr/>
        </p:nvSpPr>
        <p:spPr>
          <a:xfrm>
            <a:off x="411480" y="1340684"/>
            <a:ext cx="960120" cy="32004"/>
          </a:xfrm>
          <a:prstGeom prst="rect">
            <a:avLst/>
          </a:prstGeom>
          <a:solidFill>
            <a:srgbClr val="BBE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F54A6C-BAB8-625A-C58F-6AB5393776A1}"/>
              </a:ext>
            </a:extLst>
          </p:cNvPr>
          <p:cNvSpPr txBox="1"/>
          <p:nvPr/>
        </p:nvSpPr>
        <p:spPr>
          <a:xfrm>
            <a:off x="3680460" y="952499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1D6D1"/>
                </a:solidFill>
                <a:latin typeface="Aptos"/>
              </a:defRPr>
            </a:pPr>
            <a:r>
              <a:rPr dirty="0"/>
              <a:t>Agentic flow from detection to approved resolution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BE480A-B7B5-4F5E-69A7-D67AB0EA14AB}"/>
              </a:ext>
            </a:extLst>
          </p:cNvPr>
          <p:cNvSpPr txBox="1"/>
          <p:nvPr/>
        </p:nvSpPr>
        <p:spPr>
          <a:xfrm>
            <a:off x="411480" y="71837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B1D6D1"/>
                </a:solidFill>
              </a:defRPr>
            </a:pPr>
            <a:r>
              <a:t>INTERNAL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F55B7C4-D3F4-E8A2-5C2B-056096CDFA56}"/>
              </a:ext>
            </a:extLst>
          </p:cNvPr>
          <p:cNvSpPr/>
          <p:nvPr/>
        </p:nvSpPr>
        <p:spPr>
          <a:xfrm>
            <a:off x="594360" y="1486988"/>
            <a:ext cx="914400" cy="548640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35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FAF8"/>
                </a:solidFill>
                <a:latin typeface="Aptos"/>
              </a:defRPr>
            </a:pPr>
            <a:r>
              <a:t>Data Source</a:t>
            </a:r>
          </a:p>
        </p:txBody>
      </p: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7A9052FB-D2F8-F4C8-B247-284E8190EB15}"/>
              </a:ext>
            </a:extLst>
          </p:cNvPr>
          <p:cNvCxnSpPr/>
          <p:nvPr/>
        </p:nvCxnSpPr>
        <p:spPr>
          <a:xfrm>
            <a:off x="1051560" y="2035628"/>
            <a:ext cx="0" cy="4023360"/>
          </a:xfrm>
          <a:prstGeom prst="line">
            <a:avLst/>
          </a:prstGeom>
          <a:ln w="10160">
            <a:solidFill>
              <a:srgbClr val="B1D6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1C8101A-082A-4BBD-5C60-443725D8E251}"/>
              </a:ext>
            </a:extLst>
          </p:cNvPr>
          <p:cNvSpPr/>
          <p:nvPr/>
        </p:nvSpPr>
        <p:spPr>
          <a:xfrm>
            <a:off x="1965960" y="1486988"/>
            <a:ext cx="914400" cy="548640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35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FAF8"/>
                </a:solidFill>
                <a:latin typeface="Aptos"/>
              </a:defRPr>
            </a:pPr>
            <a:r>
              <a:t>Validation</a:t>
            </a:r>
            <a:br/>
            <a:r>
              <a:t>Agent</a:t>
            </a:r>
          </a:p>
        </p:txBody>
      </p: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3E2519E9-6E87-BED0-0226-8E84C540A700}"/>
              </a:ext>
            </a:extLst>
          </p:cNvPr>
          <p:cNvCxnSpPr/>
          <p:nvPr/>
        </p:nvCxnSpPr>
        <p:spPr>
          <a:xfrm>
            <a:off x="2423160" y="2035628"/>
            <a:ext cx="0" cy="4023360"/>
          </a:xfrm>
          <a:prstGeom prst="line">
            <a:avLst/>
          </a:prstGeom>
          <a:ln w="10160">
            <a:solidFill>
              <a:srgbClr val="B1D6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33DB864-AF14-67B4-CA21-172AA6B04274}"/>
              </a:ext>
            </a:extLst>
          </p:cNvPr>
          <p:cNvSpPr/>
          <p:nvPr/>
        </p:nvSpPr>
        <p:spPr>
          <a:xfrm>
            <a:off x="3429000" y="1486988"/>
            <a:ext cx="914400" cy="548640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35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FAF8"/>
                </a:solidFill>
                <a:latin typeface="Aptos"/>
              </a:defRPr>
            </a:pPr>
            <a:r>
              <a:t>Root Cause</a:t>
            </a:r>
            <a:br/>
            <a:r>
              <a:t>Agent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E8C5FBA6-6B9E-BD88-35F9-C5C3739319D1}"/>
              </a:ext>
            </a:extLst>
          </p:cNvPr>
          <p:cNvCxnSpPr/>
          <p:nvPr/>
        </p:nvCxnSpPr>
        <p:spPr>
          <a:xfrm>
            <a:off x="3886200" y="2035628"/>
            <a:ext cx="0" cy="4023360"/>
          </a:xfrm>
          <a:prstGeom prst="line">
            <a:avLst/>
          </a:prstGeom>
          <a:ln w="10160">
            <a:solidFill>
              <a:srgbClr val="B1D6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56C2D59-3D52-70CF-6F3B-22D328C521E1}"/>
              </a:ext>
            </a:extLst>
          </p:cNvPr>
          <p:cNvSpPr/>
          <p:nvPr/>
        </p:nvSpPr>
        <p:spPr>
          <a:xfrm>
            <a:off x="4892040" y="1486988"/>
            <a:ext cx="914400" cy="548640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35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FAF8"/>
                </a:solidFill>
                <a:latin typeface="Aptos"/>
              </a:defRPr>
            </a:pPr>
            <a:r>
              <a:t>Resolution</a:t>
            </a:r>
            <a:br/>
            <a:r>
              <a:t>Agent</a:t>
            </a: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219F3E3C-EEC0-93EC-B806-DB2D9305E2C7}"/>
              </a:ext>
            </a:extLst>
          </p:cNvPr>
          <p:cNvCxnSpPr/>
          <p:nvPr/>
        </p:nvCxnSpPr>
        <p:spPr>
          <a:xfrm>
            <a:off x="5349240" y="2035628"/>
            <a:ext cx="0" cy="4023360"/>
          </a:xfrm>
          <a:prstGeom prst="line">
            <a:avLst/>
          </a:prstGeom>
          <a:ln w="10160">
            <a:solidFill>
              <a:srgbClr val="B1D6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3476407-5716-D09C-350C-A992F298BA1D}"/>
              </a:ext>
            </a:extLst>
          </p:cNvPr>
          <p:cNvSpPr/>
          <p:nvPr/>
        </p:nvSpPr>
        <p:spPr>
          <a:xfrm>
            <a:off x="6355080" y="1486988"/>
            <a:ext cx="914400" cy="548640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35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FAF8"/>
                </a:solidFill>
                <a:latin typeface="Aptos"/>
              </a:defRPr>
            </a:pPr>
            <a:r>
              <a:t>Supervisor</a:t>
            </a:r>
          </a:p>
        </p:txBody>
      </p: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AAC847DA-A11B-392A-E54A-842B9ABADFE8}"/>
              </a:ext>
            </a:extLst>
          </p:cNvPr>
          <p:cNvCxnSpPr/>
          <p:nvPr/>
        </p:nvCxnSpPr>
        <p:spPr>
          <a:xfrm>
            <a:off x="6812280" y="2035628"/>
            <a:ext cx="0" cy="4023360"/>
          </a:xfrm>
          <a:prstGeom prst="line">
            <a:avLst/>
          </a:prstGeom>
          <a:ln w="10160">
            <a:solidFill>
              <a:srgbClr val="B1D6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FDD1DD6-8F26-15F3-12FB-A42E869D8754}"/>
              </a:ext>
            </a:extLst>
          </p:cNvPr>
          <p:cNvSpPr/>
          <p:nvPr/>
        </p:nvSpPr>
        <p:spPr>
          <a:xfrm>
            <a:off x="7315200" y="1486988"/>
            <a:ext cx="914400" cy="548640"/>
          </a:xfrm>
          <a:prstGeom prst="roundRect">
            <a:avLst/>
          </a:prstGeom>
          <a:solidFill>
            <a:srgbClr val="053D3A"/>
          </a:solidFill>
          <a:ln w="16510">
            <a:solidFill>
              <a:srgbClr val="35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FAF8"/>
                </a:solidFill>
                <a:latin typeface="Aptos"/>
              </a:defRPr>
            </a:pPr>
            <a:r>
              <a:t>Audit</a:t>
            </a:r>
          </a:p>
        </p:txBody>
      </p: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AE932BC0-516C-1540-F15A-C77C3539AB00}"/>
              </a:ext>
            </a:extLst>
          </p:cNvPr>
          <p:cNvCxnSpPr/>
          <p:nvPr/>
        </p:nvCxnSpPr>
        <p:spPr>
          <a:xfrm>
            <a:off x="7772400" y="2035628"/>
            <a:ext cx="0" cy="4023360"/>
          </a:xfrm>
          <a:prstGeom prst="line">
            <a:avLst/>
          </a:prstGeom>
          <a:ln w="10160">
            <a:solidFill>
              <a:srgbClr val="B1D6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>
            <a:extLst>
              <a:ext uri="{FF2B5EF4-FFF2-40B4-BE49-F238E27FC236}">
                <a16:creationId xmlns:a16="http://schemas.microsoft.com/office/drawing/2014/main" id="{C34E2133-0FD0-24B1-B1EE-E710F9FCFF02}"/>
              </a:ext>
            </a:extLst>
          </p:cNvPr>
          <p:cNvCxnSpPr/>
          <p:nvPr/>
        </p:nvCxnSpPr>
        <p:spPr>
          <a:xfrm>
            <a:off x="1051560" y="2355668"/>
            <a:ext cx="1371600" cy="0"/>
          </a:xfrm>
          <a:prstGeom prst="line">
            <a:avLst/>
          </a:prstGeom>
          <a:ln w="1397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7CEF742-80B9-EFA9-E3DB-10C35C29080C}"/>
              </a:ext>
            </a:extLst>
          </p:cNvPr>
          <p:cNvSpPr txBox="1"/>
          <p:nvPr/>
        </p:nvSpPr>
        <p:spPr>
          <a:xfrm>
            <a:off x="1097280" y="21910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B1D6D1"/>
                </a:solidFill>
                <a:latin typeface="Aptos"/>
              </a:defRPr>
            </a:pPr>
            <a:r>
              <a:t>Record received</a:t>
            </a:r>
          </a:p>
        </p:txBody>
      </p: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24AF5C8C-C18B-6495-16F9-CD18514913A8}"/>
              </a:ext>
            </a:extLst>
          </p:cNvPr>
          <p:cNvCxnSpPr/>
          <p:nvPr/>
        </p:nvCxnSpPr>
        <p:spPr>
          <a:xfrm>
            <a:off x="2423160" y="2886020"/>
            <a:ext cx="1463040" cy="0"/>
          </a:xfrm>
          <a:prstGeom prst="line">
            <a:avLst/>
          </a:prstGeom>
          <a:ln w="1397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E03E2E-A7B3-A503-DDEF-2E50420E0CE9}"/>
              </a:ext>
            </a:extLst>
          </p:cNvPr>
          <p:cNvSpPr txBox="1"/>
          <p:nvPr/>
        </p:nvSpPr>
        <p:spPr>
          <a:xfrm>
            <a:off x="2514600" y="27214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B1D6D1"/>
                </a:solidFill>
                <a:latin typeface="Aptos"/>
              </a:defRPr>
            </a:pPr>
            <a:r>
              <a:t>Validate + correlate</a:t>
            </a:r>
          </a:p>
        </p:txBody>
      </p: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515F9A91-915D-75D2-7A9B-556B7BF8D78D}"/>
              </a:ext>
            </a:extLst>
          </p:cNvPr>
          <p:cNvCxnSpPr/>
          <p:nvPr/>
        </p:nvCxnSpPr>
        <p:spPr>
          <a:xfrm>
            <a:off x="3886200" y="3416371"/>
            <a:ext cx="1463040" cy="0"/>
          </a:xfrm>
          <a:prstGeom prst="line">
            <a:avLst/>
          </a:prstGeom>
          <a:ln w="1397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57B763A-FC7D-F9E3-B3A3-60FB1B382868}"/>
              </a:ext>
            </a:extLst>
          </p:cNvPr>
          <p:cNvSpPr txBox="1"/>
          <p:nvPr/>
        </p:nvSpPr>
        <p:spPr>
          <a:xfrm>
            <a:off x="3977639" y="32517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B1D6D1"/>
                </a:solidFill>
                <a:latin typeface="Aptos"/>
              </a:defRPr>
            </a:pPr>
            <a:r>
              <a:t>Likely root cause + impact</a:t>
            </a:r>
          </a:p>
        </p:txBody>
      </p: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4C049D57-1B40-78F0-CF00-BCBC4F084284}"/>
              </a:ext>
            </a:extLst>
          </p:cNvPr>
          <p:cNvCxnSpPr/>
          <p:nvPr/>
        </p:nvCxnSpPr>
        <p:spPr>
          <a:xfrm>
            <a:off x="5349240" y="3946723"/>
            <a:ext cx="1463040" cy="0"/>
          </a:xfrm>
          <a:prstGeom prst="line">
            <a:avLst/>
          </a:prstGeom>
          <a:ln w="1397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32F68E2-D3EB-5F33-7C11-B1859EFDA33E}"/>
              </a:ext>
            </a:extLst>
          </p:cNvPr>
          <p:cNvSpPr txBox="1"/>
          <p:nvPr/>
        </p:nvSpPr>
        <p:spPr>
          <a:xfrm>
            <a:off x="5440680" y="37821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B1D6D1"/>
                </a:solidFill>
                <a:latin typeface="Aptos"/>
              </a:defRPr>
            </a:pPr>
            <a:r>
              <a:t>Recommendation</a:t>
            </a:r>
          </a:p>
        </p:txBody>
      </p: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1447FC83-54E0-AD8C-7165-B1454D99B3A1}"/>
              </a:ext>
            </a:extLst>
          </p:cNvPr>
          <p:cNvCxnSpPr/>
          <p:nvPr/>
        </p:nvCxnSpPr>
        <p:spPr>
          <a:xfrm flipH="1">
            <a:off x="5349240" y="4477076"/>
            <a:ext cx="1463040" cy="0"/>
          </a:xfrm>
          <a:prstGeom prst="line">
            <a:avLst/>
          </a:prstGeom>
          <a:ln w="13970">
            <a:solidFill>
              <a:srgbClr val="BBE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DE3FD17-0C3F-C841-4BA7-34858D5E947F}"/>
              </a:ext>
            </a:extLst>
          </p:cNvPr>
          <p:cNvSpPr txBox="1"/>
          <p:nvPr/>
        </p:nvSpPr>
        <p:spPr>
          <a:xfrm>
            <a:off x="5440680" y="43124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B1D6D1"/>
                </a:solidFill>
                <a:latin typeface="Aptos"/>
              </a:defRPr>
            </a:pPr>
            <a:r>
              <a:t>Approve</a:t>
            </a:r>
          </a:p>
        </p:txBody>
      </p: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7650E21D-0F46-EF22-B631-62F03C21F013}"/>
              </a:ext>
            </a:extLst>
          </p:cNvPr>
          <p:cNvCxnSpPr/>
          <p:nvPr/>
        </p:nvCxnSpPr>
        <p:spPr>
          <a:xfrm>
            <a:off x="5349240" y="5007428"/>
            <a:ext cx="2423160" cy="0"/>
          </a:xfrm>
          <a:prstGeom prst="line">
            <a:avLst/>
          </a:prstGeom>
          <a:ln w="1397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9234602-594E-DCEF-47DF-45659CA9FC97}"/>
              </a:ext>
            </a:extLst>
          </p:cNvPr>
          <p:cNvSpPr txBox="1"/>
          <p:nvPr/>
        </p:nvSpPr>
        <p:spPr>
          <a:xfrm>
            <a:off x="5920740" y="48428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B1D6D1"/>
                </a:solidFill>
                <a:latin typeface="Aptos"/>
              </a:defRPr>
            </a:pPr>
            <a:r>
              <a:t>Write action + audit</a:t>
            </a:r>
          </a:p>
        </p:txBody>
      </p:sp>
      <p:cxnSp>
        <p:nvCxnSpPr>
          <p:cNvPr id="31" name="Connector 30">
            <a:extLst>
              <a:ext uri="{FF2B5EF4-FFF2-40B4-BE49-F238E27FC236}">
                <a16:creationId xmlns:a16="http://schemas.microsoft.com/office/drawing/2014/main" id="{623905C5-9AAE-7CC6-A4B1-D2DBAC370767}"/>
              </a:ext>
            </a:extLst>
          </p:cNvPr>
          <p:cNvCxnSpPr/>
          <p:nvPr/>
        </p:nvCxnSpPr>
        <p:spPr>
          <a:xfrm>
            <a:off x="2423160" y="5537779"/>
            <a:ext cx="1463040" cy="0"/>
          </a:xfrm>
          <a:prstGeom prst="line">
            <a:avLst/>
          </a:prstGeom>
          <a:ln w="13970">
            <a:solidFill>
              <a:srgbClr val="35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421D0AA-4052-E0A7-414C-DBB45124D453}"/>
              </a:ext>
            </a:extLst>
          </p:cNvPr>
          <p:cNvSpPr txBox="1"/>
          <p:nvPr/>
        </p:nvSpPr>
        <p:spPr>
          <a:xfrm>
            <a:off x="2514600" y="537318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B1D6D1"/>
                </a:solidFill>
                <a:latin typeface="Aptos"/>
              </a:defRPr>
            </a:pPr>
            <a:r>
              <a:t>Related anomalies found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773CCB-55F4-DEBB-5040-DDF858BD7D57}"/>
              </a:ext>
            </a:extLst>
          </p:cNvPr>
          <p:cNvSpPr txBox="1"/>
          <p:nvPr/>
        </p:nvSpPr>
        <p:spPr>
          <a:xfrm>
            <a:off x="640080" y="6214436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1D6D1"/>
                </a:solidFill>
                <a:latin typeface="Aptos"/>
              </a:defRPr>
            </a:pPr>
            <a:r>
              <a:t>Human approval is the control point: AI recommends and prepares the action; the supervisor decides whether it is executed.</a:t>
            </a:r>
          </a:p>
        </p:txBody>
      </p:sp>
    </p:spTree>
    <p:extLst>
      <p:ext uri="{BB962C8B-B14F-4D97-AF65-F5344CB8AC3E}">
        <p14:creationId xmlns:p14="http://schemas.microsoft.com/office/powerpoint/2010/main" val="2870515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1B55D1-FCA2-CA92-C49B-DB4FCD0CD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522" y="735466"/>
            <a:ext cx="8644957" cy="576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41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89618D-D20D-E681-7149-1216AEEAF66E}"/>
              </a:ext>
            </a:extLst>
          </p:cNvPr>
          <p:cNvSpPr txBox="1"/>
          <p:nvPr/>
        </p:nvSpPr>
        <p:spPr>
          <a:xfrm>
            <a:off x="568411" y="1260390"/>
            <a:ext cx="4706738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Data We Need –</a:t>
            </a:r>
          </a:p>
          <a:p>
            <a:endParaRPr lang="en-US" sz="2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Warehouse / Workspace Management</a:t>
            </a:r>
            <a:endParaRPr lang="en-US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Inventory</a:t>
            </a:r>
            <a:endParaRPr lang="en-US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Orders</a:t>
            </a:r>
            <a:endParaRPr lang="en-US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Shipments</a:t>
            </a:r>
            <a:endParaRPr lang="en-US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Warehouse &amp; Logistics Events</a:t>
            </a:r>
            <a:endParaRPr lang="en-US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Planning &amp; Replenishment</a:t>
            </a:r>
            <a:endParaRPr lang="en-US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Master Data</a:t>
            </a:r>
            <a:endParaRPr lang="en-US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Suppliers &amp; Locations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87848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FFFFF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VW Head"/>
        <a:ea typeface=""/>
        <a:cs typeface=""/>
      </a:majorFont>
      <a:minorFont>
        <a:latin typeface="VW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d66dc7-3800-4169-b933-dbe7c9ec2afa" xsi:nil="true"/>
    <dde1344d62d54eb3abb1b4b7a5eff94d xmlns="55d66dc7-3800-4169-b933-dbe7c9ec2afa">
      <Terms xmlns="http://schemas.microsoft.com/office/infopath/2007/PartnerControls"/>
    </dde1344d62d54eb3abb1b4b7a5eff94d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C9183435B25C418AE47B0F89C81660" ma:contentTypeVersion="8" ma:contentTypeDescription="Create a new document." ma:contentTypeScope="" ma:versionID="dcf3e4c7f3533fbe07c9c8b43a97ef88">
  <xsd:schema xmlns:xsd="http://www.w3.org/2001/XMLSchema" xmlns:xs="http://www.w3.org/2001/XMLSchema" xmlns:p="http://schemas.microsoft.com/office/2006/metadata/properties" xmlns:ns2="55d66dc7-3800-4169-b933-dbe7c9ec2afa" xmlns:ns3="1c2e60ec-af57-4e6d-a0eb-59a92072cdfb" targetNamespace="http://schemas.microsoft.com/office/2006/metadata/properties" ma:root="true" ma:fieldsID="5ca7231b73d88499a53d31976908fa50" ns2:_="" ns3:_="">
    <xsd:import namespace="55d66dc7-3800-4169-b933-dbe7c9ec2afa"/>
    <xsd:import namespace="1c2e60ec-af57-4e6d-a0eb-59a92072cdfb"/>
    <xsd:element name="properties">
      <xsd:complexType>
        <xsd:sequence>
          <xsd:element name="documentManagement">
            <xsd:complexType>
              <xsd:all>
                <xsd:element ref="ns2:dde1344d62d54eb3abb1b4b7a5eff94d" minOccurs="0"/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d66dc7-3800-4169-b933-dbe7c9ec2afa" elementFormDefault="qualified">
    <xsd:import namespace="http://schemas.microsoft.com/office/2006/documentManagement/types"/>
    <xsd:import namespace="http://schemas.microsoft.com/office/infopath/2007/PartnerControls"/>
    <xsd:element name="dde1344d62d54eb3abb1b4b7a5eff94d" ma:index="8" nillable="true" ma:taxonomy="true" ma:internalName="dde1344d62d54eb3abb1b4b7a5eff94d" ma:taxonomyFieldName="LegalHoldTag" ma:displayName="LegalHold" ma:fieldId="{dde1344d-62d5-4eb3-abb1-b4b7a5eff94d}" ma:taxonomyMulti="true" ma:sspId="d35d9ec1-ff0e-4daf-94ff-594c76aa1822" ma:termSetId="1d36a6df-4193-45ed-b3bc-3ba9643c5e0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aa02f2fb-5f92-4c72-82c1-23372db57460}" ma:internalName="TaxCatchAll" ma:showField="CatchAllData" ma:web="55d66dc7-3800-4169-b933-dbe7c9ec2a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aa02f2fb-5f92-4c72-82c1-23372db57460}" ma:internalName="TaxCatchAllLabel" ma:readOnly="true" ma:showField="CatchAllDataLabel" ma:web="55d66dc7-3800-4169-b933-dbe7c9ec2a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2e60ec-af57-4e6d-a0eb-59a92072cd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BACF82-7F34-4AFF-A924-152D616A1A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5D1D0E1-0E88-4183-9A04-E40511F43BA5}">
  <ds:schemaRefs>
    <ds:schemaRef ds:uri="55d66dc7-3800-4169-b933-dbe7c9ec2afa"/>
    <ds:schemaRef ds:uri="c0af28d3-fe39-46cc-a37d-c9c7d68f5189"/>
    <ds:schemaRef ds:uri="dede12bc-f118-4c38-81c9-68f6e1dccfc3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DEEC532-9DD5-4659-B50C-0E679CA83924}">
  <ds:schemaRefs>
    <ds:schemaRef ds:uri="1c2e60ec-af57-4e6d-a0eb-59a92072cdfb"/>
    <ds:schemaRef ds:uri="55d66dc7-3800-4169-b933-dbe7c9ec2a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b1c9b508-7c6e-42bd-bedf-808292653d6c}" enabled="1" method="Standard" siteId="{2882be50-2012-4d88-ac86-544124e120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1004</Words>
  <Application>Microsoft Macintosh PowerPoint</Application>
  <PresentationFormat>Widescreen</PresentationFormat>
  <Paragraphs>186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The Group TEXT</vt:lpstr>
      <vt:lpstr>VW Head</vt:lpstr>
      <vt:lpstr>VW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Volkswagen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Chakravarthy, Praveen (VWITS India I-TF)</dc:creator>
  <cp:lastModifiedBy>Bhosale, Ajinkya (VW Group Digital Solutions)</cp:lastModifiedBy>
  <cp:revision>7</cp:revision>
  <dcterms:created xsi:type="dcterms:W3CDTF">2025-08-11T11:12:53Z</dcterms:created>
  <dcterms:modified xsi:type="dcterms:W3CDTF">2026-07-31T10:46:48Z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INTERNAL</vt:lpwstr>
  </property>
  <property fmtid="{D5CDD505-2E9C-101B-9397-08002B2CF9AE}" pid="4" name="RevIMBCS">
    <vt:lpwstr>1;#0.1 Initial category|0239cc7a-0c96-48a8-9e0e-a383e362571c</vt:lpwstr>
  </property>
  <property fmtid="{D5CDD505-2E9C-101B-9397-08002B2CF9AE}" pid="5" name="MediaServiceImageTags">
    <vt:lpwstr/>
  </property>
  <property fmtid="{D5CDD505-2E9C-101B-9397-08002B2CF9AE}" pid="6" name="ContentTypeId">
    <vt:lpwstr>0x01010062C9183435B25C418AE47B0F89C81660</vt:lpwstr>
  </property>
  <property fmtid="{D5CDD505-2E9C-101B-9397-08002B2CF9AE}" pid="7" name="LegalHoldTag">
    <vt:lpwstr/>
  </property>
</Properties>
</file>